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Bold" charset="1" panose="02040802050405020203"/>
      <p:regular r:id="rId16"/>
    </p:embeddedFont>
    <p:embeddedFont>
      <p:font typeface="Georgia Italics" charset="1" panose="02040502050405090303"/>
      <p:regular r:id="rId17"/>
    </p:embeddedFon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4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jpe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22.png" Type="http://schemas.openxmlformats.org/officeDocument/2006/relationships/image"/><Relationship Id="rId6" Target="../media/image4.png" Type="http://schemas.openxmlformats.org/officeDocument/2006/relationships/image"/><Relationship Id="rId7" Target="../media/image12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29.png" Type="http://schemas.openxmlformats.org/officeDocument/2006/relationships/image"/><Relationship Id="rId6" Target="../media/image13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7657" y="-3568951"/>
            <a:ext cx="9608706" cy="9608706"/>
            <a:chOff x="0" y="0"/>
            <a:chExt cx="12811608" cy="1281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028090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5765225"/>
            <a:ext cx="8236039" cy="8236039"/>
            <a:chOff x="0" y="0"/>
            <a:chExt cx="10981385" cy="109813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81436" cy="10981436"/>
            </a:xfrm>
            <a:custGeom>
              <a:avLst/>
              <a:gdLst/>
              <a:ahLst/>
              <a:cxnLst/>
              <a:rect r="r" b="b" t="t" l="l"/>
              <a:pathLst>
                <a:path h="10981436" w="10981436">
                  <a:moveTo>
                    <a:pt x="0" y="5490718"/>
                  </a:moveTo>
                  <a:cubicBezTo>
                    <a:pt x="0" y="2458212"/>
                    <a:pt x="2458212" y="0"/>
                    <a:pt x="5490718" y="0"/>
                  </a:cubicBezTo>
                  <a:cubicBezTo>
                    <a:pt x="8523224" y="0"/>
                    <a:pt x="10981436" y="2458212"/>
                    <a:pt x="10981436" y="5490718"/>
                  </a:cubicBezTo>
                  <a:cubicBezTo>
                    <a:pt x="10981436" y="8523224"/>
                    <a:pt x="8523097" y="10981436"/>
                    <a:pt x="5490718" y="10981436"/>
                  </a:cubicBezTo>
                  <a:cubicBezTo>
                    <a:pt x="2458339" y="10981436"/>
                    <a:pt x="0" y="8523097"/>
                    <a:pt x="0" y="5490718"/>
                  </a:cubicBezTo>
                  <a:close/>
                </a:path>
              </a:pathLst>
            </a:custGeom>
            <a:solidFill>
              <a:srgbClr val="00A896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7" id="7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11340" y="370618"/>
            <a:ext cx="3074784" cy="901951"/>
            <a:chOff x="0" y="0"/>
            <a:chExt cx="4099712" cy="1202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99814" cy="1202690"/>
            </a:xfrm>
            <a:custGeom>
              <a:avLst/>
              <a:gdLst/>
              <a:ahLst/>
              <a:cxnLst/>
              <a:rect r="r" b="b" t="t" l="l"/>
              <a:pathLst>
                <a:path h="1202690" w="4099814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3989959" y="0"/>
                  </a:lnTo>
                  <a:cubicBezTo>
                    <a:pt x="4050665" y="0"/>
                    <a:pt x="4099814" y="49149"/>
                    <a:pt x="4099814" y="109855"/>
                  </a:cubicBezTo>
                  <a:lnTo>
                    <a:pt x="4099814" y="1092835"/>
                  </a:lnTo>
                  <a:cubicBezTo>
                    <a:pt x="4099814" y="1153541"/>
                    <a:pt x="4050665" y="1202690"/>
                    <a:pt x="3989959" y="1202690"/>
                  </a:cubicBezTo>
                  <a:lnTo>
                    <a:pt x="109855" y="1202690"/>
                  </a:lnTo>
                  <a:cubicBezTo>
                    <a:pt x="49149" y="1202563"/>
                    <a:pt x="0" y="1153414"/>
                    <a:pt x="0" y="109283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14" id="14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54971" y="2127647"/>
            <a:ext cx="1304039" cy="1304039"/>
            <a:chOff x="0" y="0"/>
            <a:chExt cx="1738719" cy="17387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8630" cy="1738630"/>
            </a:xfrm>
            <a:custGeom>
              <a:avLst/>
              <a:gdLst/>
              <a:ahLst/>
              <a:cxnLst/>
              <a:rect r="r" b="b" t="t" l="l"/>
              <a:pathLst>
                <a:path h="1738630" w="1738630">
                  <a:moveTo>
                    <a:pt x="0" y="869315"/>
                  </a:moveTo>
                  <a:cubicBezTo>
                    <a:pt x="0" y="389255"/>
                    <a:pt x="389255" y="0"/>
                    <a:pt x="869315" y="0"/>
                  </a:cubicBezTo>
                  <a:cubicBezTo>
                    <a:pt x="1349375" y="0"/>
                    <a:pt x="1738630" y="389255"/>
                    <a:pt x="1738630" y="869315"/>
                  </a:cubicBezTo>
                  <a:cubicBezTo>
                    <a:pt x="1738630" y="1349375"/>
                    <a:pt x="1349375" y="1738630"/>
                    <a:pt x="869315" y="1738630"/>
                  </a:cubicBezTo>
                  <a:cubicBezTo>
                    <a:pt x="389255" y="1738630"/>
                    <a:pt x="0" y="1349502"/>
                    <a:pt x="0" y="86931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50093" y="2422769"/>
            <a:ext cx="713794" cy="713794"/>
            <a:chOff x="0" y="0"/>
            <a:chExt cx="951725" cy="951725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0"/>
                  </a:moveTo>
                  <a:lnTo>
                    <a:pt x="951738" y="0"/>
                  </a:lnTo>
                  <a:lnTo>
                    <a:pt x="951738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54971" y="3774853"/>
            <a:ext cx="16472068" cy="960872"/>
            <a:chOff x="0" y="0"/>
            <a:chExt cx="21962758" cy="12811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62759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962758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6"/>
                </a:lnSpc>
              </a:pPr>
              <a:r>
                <a:rPr lang="en-US" sz="6905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WeCare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4971" y="4872990"/>
            <a:ext cx="15373931" cy="960872"/>
            <a:chOff x="0" y="0"/>
            <a:chExt cx="20498575" cy="12811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498575" cy="1281161"/>
            </a:xfrm>
            <a:custGeom>
              <a:avLst/>
              <a:gdLst/>
              <a:ahLst/>
              <a:cxnLst/>
              <a:rect r="r" b="b" t="t" l="l"/>
              <a:pathLst>
                <a:path h="1281161" w="20498575">
                  <a:moveTo>
                    <a:pt x="0" y="0"/>
                  </a:moveTo>
                  <a:lnTo>
                    <a:pt x="20498575" y="0"/>
                  </a:lnTo>
                  <a:lnTo>
                    <a:pt x="20498575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498575" cy="1290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i="true">
                  <a:solidFill>
                    <a:srgbClr val="02C39A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Empowering Men and Women Through Health, Equality &amp; Technology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82422" y="5971127"/>
            <a:ext cx="15099392" cy="686333"/>
            <a:chOff x="0" y="0"/>
            <a:chExt cx="20132523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32529" cy="915115"/>
            </a:xfrm>
            <a:custGeom>
              <a:avLst/>
              <a:gdLst/>
              <a:ahLst/>
              <a:cxnLst/>
              <a:rect r="r" b="b" t="t" l="l"/>
              <a:pathLst>
                <a:path h="915115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0132523" cy="97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CF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mobile-app concept to a working physical health-monitoring kiosk.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2422" y="6932000"/>
            <a:ext cx="3843480" cy="686333"/>
            <a:chOff x="0" y="0"/>
            <a:chExt cx="5124640" cy="915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24704" cy="915162"/>
            </a:xfrm>
            <a:custGeom>
              <a:avLst/>
              <a:gdLst/>
              <a:ahLst/>
              <a:cxnLst/>
              <a:rect r="r" b="b" t="t" l="l"/>
              <a:pathLst>
                <a:path h="915162" w="5124704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4667123" y="0"/>
                  </a:lnTo>
                  <a:cubicBezTo>
                    <a:pt x="4919853" y="0"/>
                    <a:pt x="5124704" y="204851"/>
                    <a:pt x="5124704" y="457581"/>
                  </a:cubicBezTo>
                  <a:cubicBezTo>
                    <a:pt x="5124704" y="710311"/>
                    <a:pt x="4919853" y="915162"/>
                    <a:pt x="4667123" y="915162"/>
                  </a:cubicBezTo>
                  <a:lnTo>
                    <a:pt x="457581" y="915162"/>
                  </a:ln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00A896">
                <a:alpha val="72157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82422" y="6932000"/>
            <a:ext cx="3843480" cy="686333"/>
            <a:chOff x="0" y="0"/>
            <a:chExt cx="5124640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4644" cy="915115"/>
            </a:xfrm>
            <a:custGeom>
              <a:avLst/>
              <a:gdLst/>
              <a:ahLst/>
              <a:cxnLst/>
              <a:rect r="r" b="b" t="t" l="l"/>
              <a:pathLst>
                <a:path h="915115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124640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SDG 3 · Good Health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831804" y="6932000"/>
            <a:ext cx="3843480" cy="686333"/>
            <a:chOff x="0" y="0"/>
            <a:chExt cx="5124640" cy="9151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24704" cy="915162"/>
            </a:xfrm>
            <a:custGeom>
              <a:avLst/>
              <a:gdLst/>
              <a:ahLst/>
              <a:cxnLst/>
              <a:rect r="r" b="b" t="t" l="l"/>
              <a:pathLst>
                <a:path h="915162" w="5124704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4667123" y="0"/>
                  </a:lnTo>
                  <a:cubicBezTo>
                    <a:pt x="4919853" y="0"/>
                    <a:pt x="5124704" y="204851"/>
                    <a:pt x="5124704" y="457581"/>
                  </a:cubicBezTo>
                  <a:cubicBezTo>
                    <a:pt x="5124704" y="710311"/>
                    <a:pt x="4919853" y="915162"/>
                    <a:pt x="4667123" y="915162"/>
                  </a:cubicBezTo>
                  <a:lnTo>
                    <a:pt x="457581" y="915162"/>
                  </a:ln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00A896">
                <a:alpha val="72157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31804" y="6932000"/>
            <a:ext cx="3843480" cy="686333"/>
            <a:chOff x="0" y="0"/>
            <a:chExt cx="5124640" cy="915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4644" cy="915115"/>
            </a:xfrm>
            <a:custGeom>
              <a:avLst/>
              <a:gdLst/>
              <a:ahLst/>
              <a:cxnLst/>
              <a:rect r="r" b="b" t="t" l="l"/>
              <a:pathLst>
                <a:path h="915115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124640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SDG 5 · Gender Equality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881186" y="6932000"/>
            <a:ext cx="3843480" cy="686333"/>
            <a:chOff x="0" y="0"/>
            <a:chExt cx="5124640" cy="915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4704" cy="915162"/>
            </a:xfrm>
            <a:custGeom>
              <a:avLst/>
              <a:gdLst/>
              <a:ahLst/>
              <a:cxnLst/>
              <a:rect r="r" b="b" t="t" l="l"/>
              <a:pathLst>
                <a:path h="915162" w="5124704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4667123" y="0"/>
                  </a:lnTo>
                  <a:cubicBezTo>
                    <a:pt x="4919853" y="0"/>
                    <a:pt x="5124704" y="204851"/>
                    <a:pt x="5124704" y="457581"/>
                  </a:cubicBezTo>
                  <a:cubicBezTo>
                    <a:pt x="5124704" y="710311"/>
                    <a:pt x="4919853" y="915162"/>
                    <a:pt x="4667123" y="915162"/>
                  </a:cubicBezTo>
                  <a:lnTo>
                    <a:pt x="457581" y="915162"/>
                  </a:ln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00A896">
                <a:alpha val="72157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81186" y="6932000"/>
            <a:ext cx="3843480" cy="686333"/>
            <a:chOff x="0" y="0"/>
            <a:chExt cx="5124640" cy="915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4644" cy="915115"/>
            </a:xfrm>
            <a:custGeom>
              <a:avLst/>
              <a:gdLst/>
              <a:ahLst/>
              <a:cxnLst/>
              <a:rect r="r" b="b" t="t" l="l"/>
              <a:pathLst>
                <a:path h="915115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5124640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SDG 9 · Innovation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82422" y="8991000"/>
            <a:ext cx="15099392" cy="549069"/>
            <a:chOff x="0" y="0"/>
            <a:chExt cx="20132523" cy="7320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32529" cy="732092"/>
            </a:xfrm>
            <a:custGeom>
              <a:avLst/>
              <a:gdLst/>
              <a:ahLst/>
              <a:cxnLst/>
              <a:rect r="r" b="b" t="t" l="l"/>
              <a:pathLst>
                <a:path h="732092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0132523" cy="779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Giorgi Pataridze   ·   Avtandili Javrishvili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8" id="8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811931"/>
            <a:ext cx="16746607" cy="1166774"/>
            <a:chOff x="0" y="0"/>
            <a:chExt cx="22328810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1555695"/>
            </a:xfrm>
            <a:custGeom>
              <a:avLst/>
              <a:gdLst/>
              <a:ahLst/>
              <a:cxnLst/>
              <a:rect r="r" b="b" t="t" l="l"/>
              <a:pathLst>
                <a:path h="155569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28810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Health access isn't equal — for women or men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5436" y="3353514"/>
            <a:ext cx="5303853" cy="5441118"/>
            <a:chOff x="0" y="0"/>
            <a:chExt cx="7071804" cy="72548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741" cy="7254875"/>
            </a:xfrm>
            <a:custGeom>
              <a:avLst/>
              <a:gdLst/>
              <a:ahLst/>
              <a:cxnLst/>
              <a:rect r="r" b="b" t="t" l="l"/>
              <a:pathLst>
                <a:path h="7254875" w="707174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888099" y="0"/>
                  </a:lnTo>
                  <a:cubicBezTo>
                    <a:pt x="6989572" y="0"/>
                    <a:pt x="7071741" y="82169"/>
                    <a:pt x="7071741" y="183642"/>
                  </a:cubicBezTo>
                  <a:lnTo>
                    <a:pt x="7071741" y="7071233"/>
                  </a:lnTo>
                  <a:cubicBezTo>
                    <a:pt x="7071741" y="7172706"/>
                    <a:pt x="6989572" y="7254875"/>
                    <a:pt x="6888099" y="7254875"/>
                  </a:cubicBezTo>
                  <a:lnTo>
                    <a:pt x="183642" y="7254875"/>
                  </a:lnTo>
                  <a:cubicBezTo>
                    <a:pt x="82169" y="7254875"/>
                    <a:pt x="0" y="7172579"/>
                    <a:pt x="0" y="7071233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5402" y="3843480"/>
            <a:ext cx="1235402" cy="1235402"/>
            <a:chOff x="0" y="0"/>
            <a:chExt cx="1647203" cy="16472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09941" y="4118019"/>
            <a:ext cx="686333" cy="686333"/>
            <a:chOff x="0" y="0"/>
            <a:chExt cx="915111" cy="91511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6774" y="5284784"/>
            <a:ext cx="4392549" cy="960872"/>
            <a:chOff x="0" y="0"/>
            <a:chExt cx="5856732" cy="12811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6736" cy="1281161"/>
            </a:xfrm>
            <a:custGeom>
              <a:avLst/>
              <a:gdLst/>
              <a:ahLst/>
              <a:cxnLst/>
              <a:rect r="r" b="b" t="t" l="l"/>
              <a:pathLst>
                <a:path h="128116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856732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02809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70%+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66774" y="6266669"/>
            <a:ext cx="4461186" cy="231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2026">
                <a:solidFill>
                  <a:srgbClr val="14323A"/>
                </a:solidFill>
                <a:latin typeface="Calibri (MS)"/>
                <a:ea typeface="Calibri (MS)"/>
                <a:cs typeface="Calibri (MS)"/>
                <a:sym typeface="Calibri (MS)"/>
              </a:rPr>
              <a:t>Women in rural &amp; peri-urban Cameroon and Zambia lack reliable access to health information and services.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42024" y="3353514"/>
            <a:ext cx="5303853" cy="5441118"/>
            <a:chOff x="0" y="0"/>
            <a:chExt cx="7071804" cy="7254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71741" cy="7254875"/>
            </a:xfrm>
            <a:custGeom>
              <a:avLst/>
              <a:gdLst/>
              <a:ahLst/>
              <a:cxnLst/>
              <a:rect r="r" b="b" t="t" l="l"/>
              <a:pathLst>
                <a:path h="7254875" w="707174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888099" y="0"/>
                  </a:lnTo>
                  <a:cubicBezTo>
                    <a:pt x="6989572" y="0"/>
                    <a:pt x="7071741" y="82169"/>
                    <a:pt x="7071741" y="183642"/>
                  </a:cubicBezTo>
                  <a:lnTo>
                    <a:pt x="7071741" y="7071233"/>
                  </a:lnTo>
                  <a:cubicBezTo>
                    <a:pt x="7071741" y="7172706"/>
                    <a:pt x="6989572" y="7254875"/>
                    <a:pt x="6888099" y="7254875"/>
                  </a:cubicBezTo>
                  <a:lnTo>
                    <a:pt x="183642" y="7254875"/>
                  </a:lnTo>
                  <a:cubicBezTo>
                    <a:pt x="82169" y="7254875"/>
                    <a:pt x="0" y="7172579"/>
                    <a:pt x="0" y="7071233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32000" y="3843480"/>
            <a:ext cx="1235402" cy="1235402"/>
            <a:chOff x="0" y="0"/>
            <a:chExt cx="1647203" cy="1647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206529" y="4118019"/>
            <a:ext cx="686333" cy="686333"/>
            <a:chOff x="0" y="0"/>
            <a:chExt cx="915111" cy="915111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5" b="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63363" y="5284784"/>
            <a:ext cx="4392549" cy="960872"/>
            <a:chOff x="0" y="0"/>
            <a:chExt cx="5856732" cy="12811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6736" cy="1281161"/>
            </a:xfrm>
            <a:custGeom>
              <a:avLst/>
              <a:gdLst/>
              <a:ahLst/>
              <a:cxnLst/>
              <a:rect r="r" b="b" t="t" l="l"/>
              <a:pathLst>
                <a:path h="128116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856732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00A8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1%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863363" y="6266669"/>
            <a:ext cx="4461186" cy="231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2026">
                <a:solidFill>
                  <a:srgbClr val="14323A"/>
                </a:solidFill>
                <a:latin typeface="Calibri (MS)"/>
                <a:ea typeface="Calibri (MS)"/>
                <a:cs typeface="Calibri (MS)"/>
                <a:sym typeface="Calibri (MS)"/>
              </a:rPr>
              <a:t>Of global healthcare R&amp;D targets female-specific conditions beyond oncology — driving preventable deaths.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138622" y="3353514"/>
            <a:ext cx="5303853" cy="5441118"/>
            <a:chOff x="0" y="0"/>
            <a:chExt cx="7071804" cy="7254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1741" cy="7254875"/>
            </a:xfrm>
            <a:custGeom>
              <a:avLst/>
              <a:gdLst/>
              <a:ahLst/>
              <a:cxnLst/>
              <a:rect r="r" b="b" t="t" l="l"/>
              <a:pathLst>
                <a:path h="7254875" w="707174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888099" y="0"/>
                  </a:lnTo>
                  <a:cubicBezTo>
                    <a:pt x="6989572" y="0"/>
                    <a:pt x="7071741" y="82169"/>
                    <a:pt x="7071741" y="183642"/>
                  </a:cubicBezTo>
                  <a:lnTo>
                    <a:pt x="7071741" y="7071233"/>
                  </a:lnTo>
                  <a:cubicBezTo>
                    <a:pt x="7071741" y="7172706"/>
                    <a:pt x="6989572" y="7254875"/>
                    <a:pt x="6888099" y="7254875"/>
                  </a:cubicBezTo>
                  <a:lnTo>
                    <a:pt x="183642" y="7254875"/>
                  </a:lnTo>
                  <a:cubicBezTo>
                    <a:pt x="82169" y="7254875"/>
                    <a:pt x="0" y="7172579"/>
                    <a:pt x="0" y="7071233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628588" y="3843480"/>
            <a:ext cx="1235402" cy="1235402"/>
            <a:chOff x="0" y="0"/>
            <a:chExt cx="1647203" cy="16472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903117" y="4118019"/>
            <a:ext cx="686333" cy="686333"/>
            <a:chOff x="0" y="0"/>
            <a:chExt cx="915111" cy="915111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5" b="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559951" y="5284784"/>
            <a:ext cx="4392549" cy="960872"/>
            <a:chOff x="0" y="0"/>
            <a:chExt cx="5856732" cy="12811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6736" cy="1281161"/>
            </a:xfrm>
            <a:custGeom>
              <a:avLst/>
              <a:gdLst/>
              <a:ahLst/>
              <a:cxnLst/>
              <a:rect r="r" b="b" t="t" l="l"/>
              <a:pathLst>
                <a:path h="128116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856732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4"/>
                </a:lnSpc>
              </a:pPr>
              <a:r>
                <a:rPr lang="en-US" sz="4503" b="true">
                  <a:solidFill>
                    <a:srgbClr val="02C39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Stigma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559951" y="6266669"/>
            <a:ext cx="4461186" cy="231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2026">
                <a:solidFill>
                  <a:srgbClr val="14323A"/>
                </a:solidFill>
                <a:latin typeface="Calibri (MS)"/>
                <a:ea typeface="Calibri (MS)"/>
                <a:cs typeface="Calibri (MS)"/>
                <a:sym typeface="Calibri (MS)"/>
              </a:rPr>
              <a:t>Men face a silent mental-health crisis: stigma and 'be stoic' norms keep them from seeking help.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54971" y="8991000"/>
            <a:ext cx="16472068" cy="549069"/>
            <a:chOff x="0" y="0"/>
            <a:chExt cx="21962758" cy="7320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62759" cy="732092"/>
            </a:xfrm>
            <a:custGeom>
              <a:avLst/>
              <a:gdLst/>
              <a:ahLst/>
              <a:cxnLst/>
              <a:rect r="r" b="b" t="t" l="l"/>
              <a:pathLst>
                <a:path h="732092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96275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5A70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Cultural taboos, gender-based violence, menstrual school absenteeism and low digital literacy intensify the gap.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8" id="8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INITIATIVE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811931"/>
            <a:ext cx="16746607" cy="1166774"/>
            <a:chOff x="0" y="0"/>
            <a:chExt cx="22328810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1555695"/>
            </a:xfrm>
            <a:custGeom>
              <a:avLst/>
              <a:gdLst/>
              <a:ahLst/>
              <a:cxnLst/>
              <a:rect r="r" b="b" t="t" l="l"/>
              <a:pathLst>
                <a:path h="155569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28810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From a concept app to a machine that works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5436" y="3422152"/>
            <a:ext cx="7088324" cy="5372491"/>
            <a:chOff x="0" y="0"/>
            <a:chExt cx="9451099" cy="71633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51086" cy="7163308"/>
            </a:xfrm>
            <a:custGeom>
              <a:avLst/>
              <a:gdLst/>
              <a:ahLst/>
              <a:cxnLst/>
              <a:rect r="r" b="b" t="t" l="l"/>
              <a:pathLst>
                <a:path h="7163308" w="9451086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9267444" y="0"/>
                  </a:lnTo>
                  <a:cubicBezTo>
                    <a:pt x="9368917" y="0"/>
                    <a:pt x="9451086" y="82169"/>
                    <a:pt x="9451086" y="183642"/>
                  </a:cubicBezTo>
                  <a:lnTo>
                    <a:pt x="9451086" y="6979666"/>
                  </a:lnTo>
                  <a:cubicBezTo>
                    <a:pt x="9451086" y="7081139"/>
                    <a:pt x="9368917" y="7163308"/>
                    <a:pt x="9267444" y="7163308"/>
                  </a:cubicBezTo>
                  <a:lnTo>
                    <a:pt x="183642" y="7163308"/>
                  </a:lnTo>
                  <a:cubicBezTo>
                    <a:pt x="82169" y="7163308"/>
                    <a:pt x="0" y="7081139"/>
                    <a:pt x="0" y="6979666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5402" y="3912118"/>
            <a:ext cx="1166774" cy="1166774"/>
            <a:chOff x="0" y="0"/>
            <a:chExt cx="1555699" cy="15556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5A707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03074" y="4179789"/>
            <a:ext cx="631431" cy="631431"/>
            <a:chOff x="0" y="0"/>
            <a:chExt cx="841908" cy="84190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676716" y="4049382"/>
            <a:ext cx="4941618" cy="823608"/>
            <a:chOff x="0" y="0"/>
            <a:chExt cx="6588823" cy="10981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8827" cy="1098138"/>
            </a:xfrm>
            <a:custGeom>
              <a:avLst/>
              <a:gdLst/>
              <a:ahLst/>
              <a:cxnLst/>
              <a:rect r="r" b="b" t="t" l="l"/>
              <a:pathLst>
                <a:path h="1098138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09" r="0" b="-6691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588823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original concept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95479" y="5429679"/>
            <a:ext cx="5994149" cy="3103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8" indent="-183524" lvl="1">
              <a:lnSpc>
                <a:spcPts val="2431"/>
              </a:lnSpc>
              <a:buFont typeface="Arial"/>
              <a:buChar char="•"/>
            </a:pPr>
            <a:r>
              <a:rPr lang="en-US" sz="2026">
                <a:solidFill>
                  <a:srgbClr val="14323A"/>
                </a:solidFill>
                <a:latin typeface="Calibri (MS)"/>
                <a:ea typeface="Calibri (MS)"/>
                <a:cs typeface="Calibri (MS)"/>
                <a:sym typeface="Calibri (MS)"/>
              </a:rPr>
              <a:t>Bridge for Balance — a proposed mobile app &amp; community hub.</a:t>
            </a:r>
          </a:p>
          <a:p>
            <a:pPr algn="l" marL="367048" indent="-183524" lvl="1">
              <a:lnSpc>
                <a:spcPts val="2431"/>
              </a:lnSpc>
              <a:buFont typeface="Arial"/>
              <a:buChar char="•"/>
            </a:pPr>
            <a:r>
              <a:rPr lang="en-US" sz="2026">
                <a:solidFill>
                  <a:srgbClr val="14323A"/>
                </a:solidFill>
                <a:latin typeface="Calibri (MS)"/>
                <a:ea typeface="Calibri (MS)"/>
                <a:cs typeface="Calibri (MS)"/>
                <a:sym typeface="Calibri (MS)"/>
              </a:rPr>
              <a:t>Telehealth, education modules, AI-assisted feedback.</a:t>
            </a:r>
          </a:p>
          <a:p>
            <a:pPr algn="l" marL="367048" indent="-183524" lvl="1">
              <a:lnSpc>
                <a:spcPts val="2431"/>
              </a:lnSpc>
              <a:buFont typeface="Arial"/>
              <a:buChar char="•"/>
            </a:pPr>
            <a:r>
              <a:rPr lang="en-US" sz="2026">
                <a:solidFill>
                  <a:srgbClr val="14323A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vision — but a slide-deck idea, not a tested device.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67402" y="5559323"/>
            <a:ext cx="1166774" cy="1166774"/>
            <a:chOff x="0" y="0"/>
            <a:chExt cx="1555699" cy="15556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435073" y="5826995"/>
            <a:ext cx="631431" cy="631431"/>
            <a:chOff x="0" y="0"/>
            <a:chExt cx="841908" cy="841908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77343" y="3431677"/>
            <a:ext cx="7824235" cy="5353421"/>
            <a:chOff x="0" y="0"/>
            <a:chExt cx="10432313" cy="71378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32288" cy="7137908"/>
            </a:xfrm>
            <a:custGeom>
              <a:avLst/>
              <a:gdLst/>
              <a:ahLst/>
              <a:cxnLst/>
              <a:rect r="r" b="b" t="t" l="l"/>
              <a:pathLst>
                <a:path h="7137908" w="10432288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10249281" y="0"/>
                  </a:lnTo>
                  <a:cubicBezTo>
                    <a:pt x="10350374" y="0"/>
                    <a:pt x="10432288" y="81915"/>
                    <a:pt x="10432288" y="183007"/>
                  </a:cubicBezTo>
                  <a:lnTo>
                    <a:pt x="10432288" y="6954901"/>
                  </a:lnTo>
                  <a:cubicBezTo>
                    <a:pt x="10432288" y="7055993"/>
                    <a:pt x="10350374" y="7137908"/>
                    <a:pt x="10249281" y="7137908"/>
                  </a:cubicBezTo>
                  <a:lnTo>
                    <a:pt x="183007" y="7137908"/>
                  </a:lnTo>
                  <a:cubicBezTo>
                    <a:pt x="81915" y="7137908"/>
                    <a:pt x="0" y="7055993"/>
                    <a:pt x="0" y="6954901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57774" y="3912118"/>
            <a:ext cx="1166774" cy="1166774"/>
            <a:chOff x="0" y="0"/>
            <a:chExt cx="1555699" cy="15556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25446" y="4179789"/>
            <a:ext cx="631431" cy="631431"/>
            <a:chOff x="0" y="0"/>
            <a:chExt cx="841908" cy="841908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599078" y="4049382"/>
            <a:ext cx="5490686" cy="823608"/>
            <a:chOff x="0" y="0"/>
            <a:chExt cx="7320915" cy="10981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20920" cy="1098138"/>
            </a:xfrm>
            <a:custGeom>
              <a:avLst/>
              <a:gdLst/>
              <a:ahLst/>
              <a:cxnLst/>
              <a:rect r="r" b="b" t="t" l="l"/>
              <a:pathLst>
                <a:path h="1098138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899" r="0" b="-799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320915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we built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317851" y="5429679"/>
            <a:ext cx="6749120" cy="3103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8" indent="-183524" lvl="1">
              <a:lnSpc>
                <a:spcPts val="2431"/>
              </a:lnSpc>
              <a:buFont typeface="Arial"/>
              <a:buChar char="•"/>
            </a:pPr>
            <a:r>
              <a:rPr lang="en-US" sz="2026">
                <a:solidFill>
                  <a:srgbClr val="EAFBF7"/>
                </a:solidFill>
                <a:latin typeface="Calibri (MS)"/>
                <a:ea typeface="Calibri (MS)"/>
                <a:cs typeface="Calibri (MS)"/>
                <a:sym typeface="Calibri (MS)"/>
              </a:rPr>
              <a:t>A fully functional physical health-monitoring kiosk.</a:t>
            </a:r>
          </a:p>
          <a:p>
            <a:pPr algn="l" marL="367048" indent="-183524" lvl="1">
              <a:lnSpc>
                <a:spcPts val="2431"/>
              </a:lnSpc>
              <a:buFont typeface="Arial"/>
              <a:buChar char="•"/>
            </a:pPr>
            <a:r>
              <a:rPr lang="en-US" sz="2026">
                <a:solidFill>
                  <a:srgbClr val="EAFBF7"/>
                </a:solidFill>
                <a:latin typeface="Calibri (MS)"/>
                <a:ea typeface="Calibri (MS)"/>
                <a:cs typeface="Calibri (MS)"/>
                <a:sym typeface="Calibri (MS)"/>
              </a:rPr>
              <a:t>Live vitals from real sensors on a Raspberry Pi 5.</a:t>
            </a:r>
          </a:p>
          <a:p>
            <a:pPr algn="l" marL="367048" indent="-183524" lvl="1">
              <a:lnSpc>
                <a:spcPts val="2431"/>
              </a:lnSpc>
              <a:buFont typeface="Arial"/>
              <a:buChar char="•"/>
            </a:pPr>
            <a:r>
              <a:rPr lang="en-US" sz="2026">
                <a:solidFill>
                  <a:srgbClr val="EAFBF7"/>
                </a:solidFill>
                <a:latin typeface="Calibri (MS)"/>
                <a:ea typeface="Calibri (MS)"/>
                <a:cs typeface="Calibri (MS)"/>
                <a:sym typeface="Calibri (MS)"/>
              </a:rPr>
              <a:t>A working dashboard — demonstrable, measurable, real.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54971" y="9059637"/>
            <a:ext cx="16472068" cy="549069"/>
            <a:chOff x="0" y="0"/>
            <a:chExt cx="21962758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62759" cy="732092"/>
            </a:xfrm>
            <a:custGeom>
              <a:avLst/>
              <a:gdLst/>
              <a:ahLst/>
              <a:cxnLst/>
              <a:rect r="r" b="b" t="t" l="l"/>
              <a:pathLst>
                <a:path h="732092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196275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i="true">
                  <a:solidFill>
                    <a:srgbClr val="5A70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We turned the team's vision into hardware you can walk up to and use.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8" id="8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811931"/>
            <a:ext cx="16746607" cy="1166774"/>
            <a:chOff x="0" y="0"/>
            <a:chExt cx="22328810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1555695"/>
            </a:xfrm>
            <a:custGeom>
              <a:avLst/>
              <a:gdLst/>
              <a:ahLst/>
              <a:cxnLst/>
              <a:rect r="r" b="b" t="t" l="l"/>
              <a:pathLst>
                <a:path h="155569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28810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 self-service health kiosk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6808" y="3628053"/>
            <a:ext cx="7637393" cy="4384167"/>
            <a:chOff x="0" y="0"/>
            <a:chExt cx="10183190" cy="58455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83241" cy="5845556"/>
            </a:xfrm>
            <a:custGeom>
              <a:avLst/>
              <a:gdLst/>
              <a:ahLst/>
              <a:cxnLst/>
              <a:rect r="r" b="b" t="t" l="l"/>
              <a:pathLst>
                <a:path h="5845556" w="1018324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10017760" y="0"/>
                  </a:lnTo>
                  <a:cubicBezTo>
                    <a:pt x="10109073" y="0"/>
                    <a:pt x="10183241" y="74041"/>
                    <a:pt x="10183241" y="165481"/>
                  </a:cubicBezTo>
                  <a:lnTo>
                    <a:pt x="10183241" y="5680075"/>
                  </a:lnTo>
                  <a:cubicBezTo>
                    <a:pt x="10183241" y="5771388"/>
                    <a:pt x="10109200" y="5845556"/>
                    <a:pt x="10017760" y="5845556"/>
                  </a:cubicBezTo>
                  <a:lnTo>
                    <a:pt x="165481" y="5845556"/>
                  </a:lnTo>
                  <a:cubicBezTo>
                    <a:pt x="74041" y="5845556"/>
                    <a:pt x="0" y="5771515"/>
                    <a:pt x="0" y="568007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54971" y="3747402"/>
            <a:ext cx="7439882" cy="4145471"/>
            <a:chOff x="0" y="0"/>
            <a:chExt cx="9919843" cy="5527294"/>
          </a:xfrm>
        </p:grpSpPr>
        <p:sp>
          <p:nvSpPr>
            <p:cNvPr name="Freeform 18" id="18"/>
            <p:cNvSpPr/>
            <p:nvPr/>
          </p:nvSpPr>
          <p:spPr>
            <a:xfrm flipH="false" flipV="false" rot="5400000">
              <a:off x="2196294" y="-2196294"/>
              <a:ext cx="5527294" cy="9919881"/>
            </a:xfrm>
            <a:custGeom>
              <a:avLst/>
              <a:gdLst/>
              <a:ahLst/>
              <a:cxnLst/>
              <a:rect r="r" b="b" t="t" l="l"/>
              <a:pathLst>
                <a:path h="9919881" w="5527294">
                  <a:moveTo>
                    <a:pt x="0" y="9919882"/>
                  </a:moveTo>
                  <a:lnTo>
                    <a:pt x="0" y="0"/>
                  </a:lnTo>
                  <a:lnTo>
                    <a:pt x="5527294" y="0"/>
                  </a:lnTo>
                  <a:lnTo>
                    <a:pt x="5527294" y="9919882"/>
                  </a:lnTo>
                  <a:lnTo>
                    <a:pt x="0" y="9919882"/>
                  </a:lnTo>
                  <a:close/>
                </a:path>
              </a:pathLst>
            </a:custGeom>
            <a:blipFill>
              <a:blip r:embed="rId5"/>
              <a:stretch>
                <a:fillRect l="-495" t="0" r="-49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6333" y="8098765"/>
            <a:ext cx="7618333" cy="549069"/>
            <a:chOff x="0" y="0"/>
            <a:chExt cx="10157778" cy="732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57776" cy="732092"/>
            </a:xfrm>
            <a:custGeom>
              <a:avLst/>
              <a:gdLst/>
              <a:ahLst/>
              <a:cxnLst/>
              <a:rect r="r" b="b" t="t" l="l"/>
              <a:pathLst>
                <a:path h="732092" w="10157776">
                  <a:moveTo>
                    <a:pt x="0" y="0"/>
                  </a:moveTo>
                  <a:lnTo>
                    <a:pt x="10157776" y="0"/>
                  </a:lnTo>
                  <a:lnTo>
                    <a:pt x="1015777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354" r="0" b="-22035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57778" cy="77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i="true">
                  <a:solidFill>
                    <a:srgbClr val="5A70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Our working prototype — Raspberry Pi 5 + full sensor suite.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16470" y="3500314"/>
            <a:ext cx="1166774" cy="1166774"/>
            <a:chOff x="0" y="0"/>
            <a:chExt cx="1555699" cy="15556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84142" y="3767985"/>
            <a:ext cx="631431" cy="631431"/>
            <a:chOff x="0" y="0"/>
            <a:chExt cx="841908" cy="84190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57774" y="3527765"/>
            <a:ext cx="7412431" cy="617706"/>
            <a:chOff x="0" y="0"/>
            <a:chExt cx="9883242" cy="8236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83241" cy="823603"/>
            </a:xfrm>
            <a:custGeom>
              <a:avLst/>
              <a:gdLst/>
              <a:ahLst/>
              <a:cxnLst/>
              <a:rect r="r" b="b" t="t" l="l"/>
              <a:pathLst>
                <a:path h="82360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9883242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Instant vitals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16470" y="5325970"/>
            <a:ext cx="1166774" cy="1166774"/>
            <a:chOff x="0" y="0"/>
            <a:chExt cx="1555699" cy="15556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84142" y="5593642"/>
            <a:ext cx="631431" cy="631431"/>
            <a:chOff x="0" y="0"/>
            <a:chExt cx="841908" cy="841908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57774" y="5353421"/>
            <a:ext cx="7412431" cy="858535"/>
            <a:chOff x="0" y="0"/>
            <a:chExt cx="9883242" cy="114471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83241" cy="1144707"/>
            </a:xfrm>
            <a:custGeom>
              <a:avLst/>
              <a:gdLst/>
              <a:ahLst/>
              <a:cxnLst/>
              <a:rect r="r" b="b" t="t" l="l"/>
              <a:pathLst>
                <a:path h="1144707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1144707"/>
                  </a:lnTo>
                  <a:lnTo>
                    <a:pt x="0" y="11447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256" r="0" b="-1042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883242" cy="1154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Priv</a:t>
              </a:r>
              <a:r>
                <a:rPr lang="en-US" sz="25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ate &amp; judgment-free</a:t>
              </a:r>
            </a:p>
            <a:p>
              <a:pPr algn="l">
                <a:lnSpc>
                  <a:spcPts val="3062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16470" y="7151627"/>
            <a:ext cx="1166774" cy="1166774"/>
            <a:chOff x="0" y="0"/>
            <a:chExt cx="1555699" cy="15556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984142" y="7419299"/>
            <a:ext cx="631431" cy="631431"/>
            <a:chOff x="0" y="0"/>
            <a:chExt cx="841908" cy="84190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-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157774" y="7179078"/>
            <a:ext cx="7412431" cy="617706"/>
            <a:chOff x="0" y="0"/>
            <a:chExt cx="9883242" cy="823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83241" cy="823603"/>
            </a:xfrm>
            <a:custGeom>
              <a:avLst/>
              <a:gdLst/>
              <a:ahLst/>
              <a:cxnLst/>
              <a:rect r="r" b="b" t="t" l="l"/>
              <a:pathLst>
                <a:path h="82360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883242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Always-on insight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157774" y="4107371"/>
            <a:ext cx="7481068" cy="113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Heart rate, SpO₂ and body temperature in seconds — no appointment.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57774" y="5933027"/>
            <a:ext cx="748106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02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elf-service and anonymous — no receptionist to face. Vital for men who avoid seeking help.</a:t>
            </a:r>
          </a:p>
          <a:p>
            <a:pPr algn="l">
              <a:lnSpc>
                <a:spcPts val="2431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0157774" y="7758674"/>
            <a:ext cx="7481068" cy="113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reading is logged so trends — not just snapshots — are visible.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11340" y="370618"/>
            <a:ext cx="3074784" cy="901951"/>
            <a:chOff x="0" y="0"/>
            <a:chExt cx="4099712" cy="12026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99814" cy="1202690"/>
            </a:xfrm>
            <a:custGeom>
              <a:avLst/>
              <a:gdLst/>
              <a:ahLst/>
              <a:cxnLst/>
              <a:rect r="r" b="b" t="t" l="l"/>
              <a:pathLst>
                <a:path h="1202690" w="4099814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3989959" y="0"/>
                  </a:lnTo>
                  <a:cubicBezTo>
                    <a:pt x="4050665" y="0"/>
                    <a:pt x="4099814" y="49149"/>
                    <a:pt x="4099814" y="109855"/>
                  </a:cubicBezTo>
                  <a:lnTo>
                    <a:pt x="4099814" y="1092835"/>
                  </a:lnTo>
                  <a:cubicBezTo>
                    <a:pt x="4099814" y="1153541"/>
                    <a:pt x="4050665" y="1202690"/>
                    <a:pt x="3989959" y="1202690"/>
                  </a:cubicBezTo>
                  <a:lnTo>
                    <a:pt x="109855" y="1202690"/>
                  </a:lnTo>
                  <a:cubicBezTo>
                    <a:pt x="49149" y="1202563"/>
                    <a:pt x="0" y="1153414"/>
                    <a:pt x="0" y="109283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10" id="10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BUILT IT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971" y="1811931"/>
            <a:ext cx="16472068" cy="960872"/>
            <a:chOff x="0" y="0"/>
            <a:chExt cx="21962758" cy="1281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62758" cy="1290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 pure Raspberry Pi 5 architecture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5140" y="3765318"/>
            <a:ext cx="3793912" cy="3793912"/>
            <a:chOff x="0" y="0"/>
            <a:chExt cx="5058550" cy="5058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8537" cy="5058537"/>
            </a:xfrm>
            <a:custGeom>
              <a:avLst/>
              <a:gdLst/>
              <a:ahLst/>
              <a:cxnLst/>
              <a:rect r="r" b="b" t="t" l="l"/>
              <a:pathLst>
                <a:path h="5058537" w="5058537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4874641" y="0"/>
                  </a:lnTo>
                  <a:cubicBezTo>
                    <a:pt x="4976241" y="0"/>
                    <a:pt x="5058537" y="82296"/>
                    <a:pt x="5058537" y="183896"/>
                  </a:cubicBezTo>
                  <a:lnTo>
                    <a:pt x="5058537" y="4874641"/>
                  </a:lnTo>
                  <a:cubicBezTo>
                    <a:pt x="5058537" y="4976241"/>
                    <a:pt x="4976241" y="5058537"/>
                    <a:pt x="4874641" y="5058537"/>
                  </a:cubicBezTo>
                  <a:lnTo>
                    <a:pt x="183896" y="5058537"/>
                  </a:lnTo>
                  <a:cubicBezTo>
                    <a:pt x="82296" y="5058537"/>
                    <a:pt x="0" y="4976241"/>
                    <a:pt x="0" y="4874641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65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875758" y="4186647"/>
            <a:ext cx="1372676" cy="1372676"/>
            <a:chOff x="0" y="0"/>
            <a:chExt cx="1830235" cy="1830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184606" y="4495505"/>
            <a:ext cx="754971" cy="754971"/>
            <a:chOff x="0" y="0"/>
            <a:chExt cx="1006627" cy="1006627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80567" y="5765225"/>
            <a:ext cx="3363049" cy="617706"/>
            <a:chOff x="0" y="0"/>
            <a:chExt cx="4484065" cy="8236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84063" cy="823603"/>
            </a:xfrm>
            <a:custGeom>
              <a:avLst/>
              <a:gdLst/>
              <a:ahLst/>
              <a:cxnLst/>
              <a:rect r="r" b="b" t="t" l="l"/>
              <a:pathLst>
                <a:path h="823603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84" r="0" b="-5608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48406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Sensors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49204" y="6386008"/>
            <a:ext cx="3225784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FE6E6"/>
                </a:solidFill>
                <a:latin typeface="Calibri (MS)"/>
                <a:ea typeface="Calibri (MS)"/>
                <a:cs typeface="Calibri (MS)"/>
                <a:sym typeface="Calibri (MS)"/>
              </a:rPr>
              <a:t>5 sensors capture vitals &amp; environment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538739" y="5490686"/>
            <a:ext cx="439255" cy="439255"/>
            <a:chOff x="0" y="0"/>
            <a:chExt cx="585673" cy="585673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057689" y="3765318"/>
            <a:ext cx="3793912" cy="3793912"/>
            <a:chOff x="0" y="0"/>
            <a:chExt cx="5058550" cy="50585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58537" cy="5058537"/>
            </a:xfrm>
            <a:custGeom>
              <a:avLst/>
              <a:gdLst/>
              <a:ahLst/>
              <a:cxnLst/>
              <a:rect r="r" b="b" t="t" l="l"/>
              <a:pathLst>
                <a:path h="5058537" w="5058537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4874641" y="0"/>
                  </a:lnTo>
                  <a:cubicBezTo>
                    <a:pt x="4976241" y="0"/>
                    <a:pt x="5058537" y="82296"/>
                    <a:pt x="5058537" y="183896"/>
                  </a:cubicBezTo>
                  <a:lnTo>
                    <a:pt x="5058537" y="4874641"/>
                  </a:lnTo>
                  <a:cubicBezTo>
                    <a:pt x="5058537" y="4976241"/>
                    <a:pt x="4976241" y="5058537"/>
                    <a:pt x="4874641" y="5058537"/>
                  </a:cubicBezTo>
                  <a:lnTo>
                    <a:pt x="183896" y="5058537"/>
                  </a:lnTo>
                  <a:cubicBezTo>
                    <a:pt x="82296" y="5058537"/>
                    <a:pt x="0" y="4976241"/>
                    <a:pt x="0" y="4874641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65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268307" y="4186647"/>
            <a:ext cx="1372676" cy="1372676"/>
            <a:chOff x="0" y="0"/>
            <a:chExt cx="1830235" cy="18302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577165" y="4495505"/>
            <a:ext cx="754971" cy="754971"/>
            <a:chOff x="0" y="0"/>
            <a:chExt cx="1006627" cy="1006627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273126" y="5765225"/>
            <a:ext cx="3363049" cy="617706"/>
            <a:chOff x="0" y="0"/>
            <a:chExt cx="4484065" cy="8236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4063" cy="823603"/>
            </a:xfrm>
            <a:custGeom>
              <a:avLst/>
              <a:gdLst/>
              <a:ahLst/>
              <a:cxnLst/>
              <a:rect r="r" b="b" t="t" l="l"/>
              <a:pathLst>
                <a:path h="823603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84" r="0" b="-5608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48406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Raspberry Pi 5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341753" y="6386008"/>
            <a:ext cx="3225784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FE6E6"/>
                </a:solidFill>
                <a:latin typeface="Calibri (MS)"/>
                <a:ea typeface="Calibri (MS)"/>
                <a:cs typeface="Calibri (MS)"/>
                <a:sym typeface="Calibri (MS)"/>
              </a:rPr>
              <a:t>Bookworm OS — the kiosk's brain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931297" y="5490686"/>
            <a:ext cx="439255" cy="439255"/>
            <a:chOff x="0" y="0"/>
            <a:chExt cx="585673" cy="585673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450238" y="3765318"/>
            <a:ext cx="3793912" cy="3793912"/>
            <a:chOff x="0" y="0"/>
            <a:chExt cx="5058550" cy="50585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58537" cy="5058537"/>
            </a:xfrm>
            <a:custGeom>
              <a:avLst/>
              <a:gdLst/>
              <a:ahLst/>
              <a:cxnLst/>
              <a:rect r="r" b="b" t="t" l="l"/>
              <a:pathLst>
                <a:path h="5058537" w="5058537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4874641" y="0"/>
                  </a:lnTo>
                  <a:cubicBezTo>
                    <a:pt x="4976241" y="0"/>
                    <a:pt x="5058537" y="82296"/>
                    <a:pt x="5058537" y="183896"/>
                  </a:cubicBezTo>
                  <a:lnTo>
                    <a:pt x="5058537" y="4874641"/>
                  </a:lnTo>
                  <a:cubicBezTo>
                    <a:pt x="5058537" y="4976241"/>
                    <a:pt x="4976241" y="5058537"/>
                    <a:pt x="4874641" y="5058537"/>
                  </a:cubicBezTo>
                  <a:lnTo>
                    <a:pt x="183896" y="5058537"/>
                  </a:lnTo>
                  <a:cubicBezTo>
                    <a:pt x="82296" y="5058537"/>
                    <a:pt x="0" y="4976241"/>
                    <a:pt x="0" y="4874641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65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660856" y="4186647"/>
            <a:ext cx="1372676" cy="1372676"/>
            <a:chOff x="0" y="0"/>
            <a:chExt cx="1830235" cy="183023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69714" y="4495505"/>
            <a:ext cx="754971" cy="754971"/>
            <a:chOff x="0" y="0"/>
            <a:chExt cx="1006627" cy="1006627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" b="-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65675" y="5765225"/>
            <a:ext cx="3363049" cy="617706"/>
            <a:chOff x="0" y="0"/>
            <a:chExt cx="4484065" cy="8236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84063" cy="823603"/>
            </a:xfrm>
            <a:custGeom>
              <a:avLst/>
              <a:gdLst/>
              <a:ahLst/>
              <a:cxnLst/>
              <a:rect r="r" b="b" t="t" l="l"/>
              <a:pathLst>
                <a:path h="823603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84" r="0" b="-5608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448406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Python + Flask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734302" y="6386008"/>
            <a:ext cx="3225784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FE6E6"/>
                </a:solidFill>
                <a:latin typeface="Calibri (MS)"/>
                <a:ea typeface="Calibri (MS)"/>
                <a:cs typeface="Calibri (MS)"/>
                <a:sym typeface="Calibri (MS)"/>
              </a:rPr>
              <a:t>Live web dashboard served locally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323846" y="5490686"/>
            <a:ext cx="439255" cy="439255"/>
            <a:chOff x="0" y="0"/>
            <a:chExt cx="585673" cy="585673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0"/>
                  </a:moveTo>
                  <a:lnTo>
                    <a:pt x="585724" y="0"/>
                  </a:lnTo>
                  <a:lnTo>
                    <a:pt x="585724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842787" y="3765318"/>
            <a:ext cx="3793912" cy="3793912"/>
            <a:chOff x="0" y="0"/>
            <a:chExt cx="5058550" cy="50585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058537" cy="5058537"/>
            </a:xfrm>
            <a:custGeom>
              <a:avLst/>
              <a:gdLst/>
              <a:ahLst/>
              <a:cxnLst/>
              <a:rect r="r" b="b" t="t" l="l"/>
              <a:pathLst>
                <a:path h="5058537" w="5058537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4874641" y="0"/>
                  </a:lnTo>
                  <a:cubicBezTo>
                    <a:pt x="4976241" y="0"/>
                    <a:pt x="5058537" y="82296"/>
                    <a:pt x="5058537" y="183896"/>
                  </a:cubicBezTo>
                  <a:lnTo>
                    <a:pt x="5058537" y="4874641"/>
                  </a:lnTo>
                  <a:cubicBezTo>
                    <a:pt x="5058537" y="4976241"/>
                    <a:pt x="4976241" y="5058537"/>
                    <a:pt x="4874641" y="5058537"/>
                  </a:cubicBezTo>
                  <a:lnTo>
                    <a:pt x="183896" y="5058537"/>
                  </a:lnTo>
                  <a:cubicBezTo>
                    <a:pt x="82296" y="5058537"/>
                    <a:pt x="0" y="4976241"/>
                    <a:pt x="0" y="4874641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65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5053415" y="4186647"/>
            <a:ext cx="1372676" cy="1372676"/>
            <a:chOff x="0" y="0"/>
            <a:chExt cx="1830235" cy="183023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362263" y="4495505"/>
            <a:ext cx="754971" cy="754971"/>
            <a:chOff x="0" y="0"/>
            <a:chExt cx="1006627" cy="1006627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" b="-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058224" y="5765225"/>
            <a:ext cx="3363049" cy="617706"/>
            <a:chOff x="0" y="0"/>
            <a:chExt cx="4484065" cy="8236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84063" cy="823603"/>
            </a:xfrm>
            <a:custGeom>
              <a:avLst/>
              <a:gdLst/>
              <a:ahLst/>
              <a:cxnLst/>
              <a:rect r="r" b="b" t="t" l="l"/>
              <a:pathLst>
                <a:path h="823603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84" r="0" b="-5608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484065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InfluxDB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4126861" y="6386008"/>
            <a:ext cx="3225784" cy="1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CFE6E6"/>
                </a:solidFill>
                <a:latin typeface="Calibri (MS)"/>
                <a:ea typeface="Calibri (MS)"/>
                <a:cs typeface="Calibri (MS)"/>
                <a:sym typeface="Calibri (MS)"/>
              </a:rPr>
              <a:t>Time-series store: live + history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54971" y="8579206"/>
            <a:ext cx="16746607" cy="686333"/>
            <a:chOff x="0" y="0"/>
            <a:chExt cx="22328810" cy="9151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328805" cy="915115"/>
            </a:xfrm>
            <a:custGeom>
              <a:avLst/>
              <a:gdLst/>
              <a:ahLst/>
              <a:cxnLst/>
              <a:rect r="r" b="b" t="t" l="l"/>
              <a:pathLst>
                <a:path h="91511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435" r="0" b="-42543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2328810" cy="962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i="true">
                  <a:solidFill>
                    <a:srgbClr val="02C3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self-contained device. No Arduino, no external microcontrollers — everything runs on the Pi 5.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8" id="8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SENSOR SUITE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811931"/>
            <a:ext cx="16746607" cy="1166774"/>
            <a:chOff x="0" y="0"/>
            <a:chExt cx="22328810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1555695"/>
            </a:xfrm>
            <a:custGeom>
              <a:avLst/>
              <a:gdLst/>
              <a:ahLst/>
              <a:cxnLst/>
              <a:rect r="r" b="b" t="t" l="l"/>
              <a:pathLst>
                <a:path h="155569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28810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Five inputs, one dashboard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5436" y="3353514"/>
            <a:ext cx="5441118" cy="2462422"/>
            <a:chOff x="0" y="0"/>
            <a:chExt cx="7254824" cy="32832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54748" cy="3283204"/>
            </a:xfrm>
            <a:custGeom>
              <a:avLst/>
              <a:gdLst/>
              <a:ahLst/>
              <a:cxnLst/>
              <a:rect r="r" b="b" t="t" l="l"/>
              <a:pathLst>
                <a:path h="3283204" w="7254748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7088759" y="0"/>
                  </a:lnTo>
                  <a:cubicBezTo>
                    <a:pt x="7180452" y="0"/>
                    <a:pt x="7254748" y="74295"/>
                    <a:pt x="7254748" y="165989"/>
                  </a:cubicBezTo>
                  <a:lnTo>
                    <a:pt x="7254748" y="3117215"/>
                  </a:lnTo>
                  <a:cubicBezTo>
                    <a:pt x="7254748" y="3208909"/>
                    <a:pt x="7180452" y="3283204"/>
                    <a:pt x="7088759" y="3283204"/>
                  </a:cubicBezTo>
                  <a:lnTo>
                    <a:pt x="165989" y="3283204"/>
                  </a:lnTo>
                  <a:cubicBezTo>
                    <a:pt x="74295" y="3283204"/>
                    <a:pt x="0" y="3208909"/>
                    <a:pt x="0" y="3117215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66774" y="3596392"/>
            <a:ext cx="1070686" cy="1070686"/>
            <a:chOff x="0" y="0"/>
            <a:chExt cx="1427582" cy="14275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00127" y="3829745"/>
            <a:ext cx="603980" cy="603980"/>
            <a:chOff x="0" y="0"/>
            <a:chExt cx="805307" cy="80530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402176" y="3747392"/>
            <a:ext cx="3568951" cy="686333"/>
            <a:chOff x="0" y="0"/>
            <a:chExt cx="4758601" cy="915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8598" cy="915115"/>
            </a:xfrm>
            <a:custGeom>
              <a:avLst/>
              <a:gdLst/>
              <a:ahLst/>
              <a:cxnLst/>
              <a:rect r="r" b="b" t="t" l="l"/>
              <a:pathLst>
                <a:path h="915115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758601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MAX30102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42024" y="3353514"/>
            <a:ext cx="5441118" cy="2462422"/>
            <a:chOff x="0" y="0"/>
            <a:chExt cx="7254824" cy="32832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54748" cy="3283204"/>
            </a:xfrm>
            <a:custGeom>
              <a:avLst/>
              <a:gdLst/>
              <a:ahLst/>
              <a:cxnLst/>
              <a:rect r="r" b="b" t="t" l="l"/>
              <a:pathLst>
                <a:path h="3283204" w="7254748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7088759" y="0"/>
                  </a:lnTo>
                  <a:cubicBezTo>
                    <a:pt x="7180452" y="0"/>
                    <a:pt x="7254748" y="74295"/>
                    <a:pt x="7254748" y="165989"/>
                  </a:cubicBezTo>
                  <a:lnTo>
                    <a:pt x="7254748" y="3117215"/>
                  </a:lnTo>
                  <a:cubicBezTo>
                    <a:pt x="7254748" y="3208909"/>
                    <a:pt x="7180452" y="3283204"/>
                    <a:pt x="7088759" y="3283204"/>
                  </a:cubicBezTo>
                  <a:lnTo>
                    <a:pt x="165989" y="3283204"/>
                  </a:lnTo>
                  <a:cubicBezTo>
                    <a:pt x="74295" y="3283204"/>
                    <a:pt x="0" y="3208909"/>
                    <a:pt x="0" y="3117215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890814" y="3555216"/>
            <a:ext cx="1070686" cy="1070686"/>
            <a:chOff x="0" y="0"/>
            <a:chExt cx="1427582" cy="14275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124167" y="3829745"/>
            <a:ext cx="603980" cy="603980"/>
            <a:chOff x="0" y="0"/>
            <a:chExt cx="805307" cy="805307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98765" y="3747392"/>
            <a:ext cx="3568951" cy="686333"/>
            <a:chOff x="0" y="0"/>
            <a:chExt cx="4758601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8598" cy="915115"/>
            </a:xfrm>
            <a:custGeom>
              <a:avLst/>
              <a:gdLst/>
              <a:ahLst/>
              <a:cxnLst/>
              <a:rect r="r" b="b" t="t" l="l"/>
              <a:pathLst>
                <a:path h="915115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758601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MLX90614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138622" y="3353514"/>
            <a:ext cx="5441118" cy="2462422"/>
            <a:chOff x="0" y="0"/>
            <a:chExt cx="7254824" cy="32832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54748" cy="3283204"/>
            </a:xfrm>
            <a:custGeom>
              <a:avLst/>
              <a:gdLst/>
              <a:ahLst/>
              <a:cxnLst/>
              <a:rect r="r" b="b" t="t" l="l"/>
              <a:pathLst>
                <a:path h="3283204" w="7254748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7088759" y="0"/>
                  </a:lnTo>
                  <a:cubicBezTo>
                    <a:pt x="7180452" y="0"/>
                    <a:pt x="7254748" y="74295"/>
                    <a:pt x="7254748" y="165989"/>
                  </a:cubicBezTo>
                  <a:lnTo>
                    <a:pt x="7254748" y="3117215"/>
                  </a:lnTo>
                  <a:cubicBezTo>
                    <a:pt x="7254748" y="3208909"/>
                    <a:pt x="7180452" y="3283204"/>
                    <a:pt x="7088759" y="3283204"/>
                  </a:cubicBezTo>
                  <a:lnTo>
                    <a:pt x="165989" y="3283204"/>
                  </a:lnTo>
                  <a:cubicBezTo>
                    <a:pt x="74295" y="3283204"/>
                    <a:pt x="0" y="3208909"/>
                    <a:pt x="0" y="3117215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59951" y="3555216"/>
            <a:ext cx="1070686" cy="1070686"/>
            <a:chOff x="0" y="0"/>
            <a:chExt cx="1427582" cy="14275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793304" y="3829745"/>
            <a:ext cx="603980" cy="603980"/>
            <a:chOff x="0" y="0"/>
            <a:chExt cx="805307" cy="805307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95362" y="3747392"/>
            <a:ext cx="3568951" cy="686333"/>
            <a:chOff x="0" y="0"/>
            <a:chExt cx="4758601" cy="9151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58598" cy="915115"/>
            </a:xfrm>
            <a:custGeom>
              <a:avLst/>
              <a:gdLst/>
              <a:ahLst/>
              <a:cxnLst/>
              <a:rect r="r" b="b" t="t" l="l"/>
              <a:pathLst>
                <a:path h="915115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758601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PIR motion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5436" y="6071406"/>
            <a:ext cx="5441118" cy="2462422"/>
            <a:chOff x="0" y="0"/>
            <a:chExt cx="7254824" cy="32832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54748" cy="3283204"/>
            </a:xfrm>
            <a:custGeom>
              <a:avLst/>
              <a:gdLst/>
              <a:ahLst/>
              <a:cxnLst/>
              <a:rect r="r" b="b" t="t" l="l"/>
              <a:pathLst>
                <a:path h="3283204" w="7254748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7088759" y="0"/>
                  </a:lnTo>
                  <a:cubicBezTo>
                    <a:pt x="7180452" y="0"/>
                    <a:pt x="7254748" y="74295"/>
                    <a:pt x="7254748" y="165989"/>
                  </a:cubicBezTo>
                  <a:lnTo>
                    <a:pt x="7254748" y="3117215"/>
                  </a:lnTo>
                  <a:cubicBezTo>
                    <a:pt x="7254748" y="3208909"/>
                    <a:pt x="7180452" y="3283204"/>
                    <a:pt x="7088759" y="3283204"/>
                  </a:cubicBezTo>
                  <a:lnTo>
                    <a:pt x="165989" y="3283204"/>
                  </a:lnTo>
                  <a:cubicBezTo>
                    <a:pt x="74295" y="3283204"/>
                    <a:pt x="0" y="3208909"/>
                    <a:pt x="0" y="3117215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66774" y="6273108"/>
            <a:ext cx="1070686" cy="1070686"/>
            <a:chOff x="0" y="0"/>
            <a:chExt cx="1427582" cy="142758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26721" y="6506461"/>
            <a:ext cx="603980" cy="603980"/>
            <a:chOff x="0" y="0"/>
            <a:chExt cx="805307" cy="80530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402176" y="6465284"/>
            <a:ext cx="3568951" cy="686333"/>
            <a:chOff x="0" y="0"/>
            <a:chExt cx="4758601" cy="9151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8598" cy="915115"/>
            </a:xfrm>
            <a:custGeom>
              <a:avLst/>
              <a:gdLst/>
              <a:ahLst/>
              <a:cxnLst/>
              <a:rect r="r" b="b" t="t" l="l"/>
              <a:pathLst>
                <a:path h="915115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758601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Sound sensor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442024" y="6071406"/>
            <a:ext cx="5441118" cy="2462422"/>
            <a:chOff x="0" y="0"/>
            <a:chExt cx="7254824" cy="328322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54748" cy="3283204"/>
            </a:xfrm>
            <a:custGeom>
              <a:avLst/>
              <a:gdLst/>
              <a:ahLst/>
              <a:cxnLst/>
              <a:rect r="r" b="b" t="t" l="l"/>
              <a:pathLst>
                <a:path h="3283204" w="7254748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7088759" y="0"/>
                  </a:lnTo>
                  <a:cubicBezTo>
                    <a:pt x="7180452" y="0"/>
                    <a:pt x="7254748" y="74295"/>
                    <a:pt x="7254748" y="165989"/>
                  </a:cubicBezTo>
                  <a:lnTo>
                    <a:pt x="7254748" y="3117215"/>
                  </a:lnTo>
                  <a:cubicBezTo>
                    <a:pt x="7254748" y="3208909"/>
                    <a:pt x="7180452" y="3283204"/>
                    <a:pt x="7088759" y="3283204"/>
                  </a:cubicBezTo>
                  <a:lnTo>
                    <a:pt x="165989" y="3283204"/>
                  </a:lnTo>
                  <a:cubicBezTo>
                    <a:pt x="74295" y="3283204"/>
                    <a:pt x="0" y="3208909"/>
                    <a:pt x="0" y="3117215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863363" y="6273108"/>
            <a:ext cx="1070686" cy="1070686"/>
            <a:chOff x="0" y="0"/>
            <a:chExt cx="1427582" cy="142758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096716" y="6506461"/>
            <a:ext cx="603980" cy="603980"/>
            <a:chOff x="0" y="0"/>
            <a:chExt cx="805307" cy="805307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098765" y="6465284"/>
            <a:ext cx="3568951" cy="686333"/>
            <a:chOff x="0" y="0"/>
            <a:chExt cx="4758601" cy="91511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58598" cy="915115"/>
            </a:xfrm>
            <a:custGeom>
              <a:avLst/>
              <a:gdLst/>
              <a:ahLst/>
              <a:cxnLst/>
              <a:rect r="r" b="b" t="t" l="l"/>
              <a:pathLst>
                <a:path h="915115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758601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Pi Camera 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138622" y="6071406"/>
            <a:ext cx="5441118" cy="3622606"/>
            <a:chOff x="0" y="0"/>
            <a:chExt cx="7254824" cy="4830141"/>
          </a:xfrm>
        </p:grpSpPr>
        <p:sp>
          <p:nvSpPr>
            <p:cNvPr name="Freeform 61" id="61"/>
            <p:cNvSpPr/>
            <p:nvPr/>
          </p:nvSpPr>
          <p:spPr>
            <a:xfrm flipH="false" flipV="false" rot="5400000">
              <a:off x="1212322" y="-1212322"/>
              <a:ext cx="4830104" cy="7254748"/>
            </a:xfrm>
            <a:custGeom>
              <a:avLst/>
              <a:gdLst/>
              <a:ahLst/>
              <a:cxnLst/>
              <a:rect r="r" b="b" t="t" l="l"/>
              <a:pathLst>
                <a:path h="7254748" w="4830104">
                  <a:moveTo>
                    <a:pt x="244196" y="7254748"/>
                  </a:moveTo>
                  <a:cubicBezTo>
                    <a:pt x="109300" y="7254748"/>
                    <a:pt x="0" y="7180453"/>
                    <a:pt x="0" y="7088759"/>
                  </a:cubicBezTo>
                  <a:lnTo>
                    <a:pt x="0" y="165989"/>
                  </a:lnTo>
                  <a:cubicBezTo>
                    <a:pt x="0" y="74295"/>
                    <a:pt x="109300" y="0"/>
                    <a:pt x="244196" y="0"/>
                  </a:cubicBezTo>
                  <a:lnTo>
                    <a:pt x="4585908" y="0"/>
                  </a:lnTo>
                  <a:cubicBezTo>
                    <a:pt x="4720804" y="0"/>
                    <a:pt x="4830104" y="74295"/>
                    <a:pt x="4830104" y="165989"/>
                  </a:cubicBezTo>
                  <a:lnTo>
                    <a:pt x="4830104" y="7088759"/>
                  </a:lnTo>
                  <a:cubicBezTo>
                    <a:pt x="4830104" y="7180453"/>
                    <a:pt x="4720804" y="7254748"/>
                    <a:pt x="4585908" y="7254748"/>
                  </a:cubicBezTo>
                  <a:close/>
                </a:path>
              </a:pathLst>
            </a:custGeom>
            <a:blipFill>
              <a:blip r:embed="rId10"/>
              <a:stretch>
                <a:fillRect l="-991" t="0" r="-506" b="-20088"/>
              </a:stretch>
            </a:blip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1194225" y="4725076"/>
            <a:ext cx="459845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Heart rate &amp; SpO₂ via red/IR LED (I²C)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890814" y="4725076"/>
            <a:ext cx="459845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Non-contact infrared body temperature (I²C)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587402" y="4725076"/>
            <a:ext cx="459845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Visitor &amp; footfall counting at the kiosk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94225" y="7442968"/>
            <a:ext cx="459845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Ambient noise — crowd &amp; distress signal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890814" y="7442968"/>
            <a:ext cx="4598451" cy="93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Live patient vision feed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8" id="8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LIVE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811931"/>
            <a:ext cx="16746607" cy="1166774"/>
            <a:chOff x="0" y="0"/>
            <a:chExt cx="22328810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1555695"/>
            </a:xfrm>
            <a:custGeom>
              <a:avLst/>
              <a:gdLst/>
              <a:ahLst/>
              <a:cxnLst/>
              <a:rect r="r" b="b" t="t" l="l"/>
              <a:pathLst>
                <a:path h="155569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28810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Everything visible in real time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61906" y="3490779"/>
            <a:ext cx="8186461" cy="4988138"/>
            <a:chOff x="0" y="0"/>
            <a:chExt cx="10915282" cy="66508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15269" cy="6650863"/>
            </a:xfrm>
            <a:custGeom>
              <a:avLst/>
              <a:gdLst/>
              <a:ahLst/>
              <a:cxnLst/>
              <a:rect r="r" b="b" t="t" l="l"/>
              <a:pathLst>
                <a:path h="6650863" w="10915269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10749915" y="0"/>
                  </a:lnTo>
                  <a:cubicBezTo>
                    <a:pt x="10841228" y="0"/>
                    <a:pt x="10915269" y="74041"/>
                    <a:pt x="10915269" y="165354"/>
                  </a:cubicBezTo>
                  <a:lnTo>
                    <a:pt x="10915269" y="6485509"/>
                  </a:lnTo>
                  <a:cubicBezTo>
                    <a:pt x="10915269" y="6576822"/>
                    <a:pt x="10841228" y="6650863"/>
                    <a:pt x="10749915" y="6650863"/>
                  </a:cubicBezTo>
                  <a:lnTo>
                    <a:pt x="165354" y="6650863"/>
                  </a:lnTo>
                  <a:cubicBezTo>
                    <a:pt x="74041" y="6650863"/>
                    <a:pt x="0" y="6576822"/>
                    <a:pt x="0" y="64855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81255" y="3610127"/>
            <a:ext cx="7947774" cy="4749451"/>
            <a:chOff x="0" y="0"/>
            <a:chExt cx="10597032" cy="6332601"/>
          </a:xfrm>
        </p:grpSpPr>
        <p:sp>
          <p:nvSpPr>
            <p:cNvPr name="Freeform 18" id="18" descr="assets/dashboard.png"/>
            <p:cNvSpPr/>
            <p:nvPr/>
          </p:nvSpPr>
          <p:spPr>
            <a:xfrm flipH="false" flipV="false" rot="0">
              <a:off x="0" y="0"/>
              <a:ext cx="10597007" cy="6332601"/>
            </a:xfrm>
            <a:custGeom>
              <a:avLst/>
              <a:gdLst/>
              <a:ahLst/>
              <a:cxnLst/>
              <a:rect r="r" b="b" t="t" l="l"/>
              <a:pathLst>
                <a:path h="6332601" w="10597007">
                  <a:moveTo>
                    <a:pt x="0" y="0"/>
                  </a:moveTo>
                  <a:lnTo>
                    <a:pt x="10597007" y="0"/>
                  </a:lnTo>
                  <a:lnTo>
                    <a:pt x="10597007" y="6332601"/>
                  </a:lnTo>
                  <a:lnTo>
                    <a:pt x="0" y="6332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7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3608" y="3568951"/>
            <a:ext cx="1125588" cy="1125588"/>
            <a:chOff x="0" y="0"/>
            <a:chExt cx="1500784" cy="15007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00886" cy="1500886"/>
            </a:xfrm>
            <a:custGeom>
              <a:avLst/>
              <a:gdLst/>
              <a:ahLst/>
              <a:cxnLst/>
              <a:rect r="r" b="b" t="t" l="l"/>
              <a:pathLst>
                <a:path h="1500886" w="1500886">
                  <a:moveTo>
                    <a:pt x="0" y="750443"/>
                  </a:moveTo>
                  <a:cubicBezTo>
                    <a:pt x="0" y="335915"/>
                    <a:pt x="335915" y="0"/>
                    <a:pt x="750443" y="0"/>
                  </a:cubicBezTo>
                  <a:cubicBezTo>
                    <a:pt x="1164971" y="0"/>
                    <a:pt x="1500886" y="335915"/>
                    <a:pt x="1500886" y="750443"/>
                  </a:cubicBezTo>
                  <a:cubicBezTo>
                    <a:pt x="1500886" y="1164971"/>
                    <a:pt x="1164971" y="1500886"/>
                    <a:pt x="750443" y="1500886"/>
                  </a:cubicBezTo>
                  <a:cubicBezTo>
                    <a:pt x="335915" y="1500886"/>
                    <a:pt x="0" y="1164844"/>
                    <a:pt x="0" y="750443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77544" y="3822897"/>
            <a:ext cx="617706" cy="617706"/>
            <a:chOff x="0" y="0"/>
            <a:chExt cx="823608" cy="82360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23595" cy="823595"/>
            </a:xfrm>
            <a:custGeom>
              <a:avLst/>
              <a:gdLst/>
              <a:ahLst/>
              <a:cxnLst/>
              <a:rect r="r" b="b" t="t" l="l"/>
              <a:pathLst>
                <a:path h="823595" w="823595">
                  <a:moveTo>
                    <a:pt x="0" y="0"/>
                  </a:moveTo>
                  <a:lnTo>
                    <a:pt x="823595" y="0"/>
                  </a:lnTo>
                  <a:lnTo>
                    <a:pt x="823595" y="823595"/>
                  </a:lnTo>
                  <a:lnTo>
                    <a:pt x="0" y="823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96274" y="3568951"/>
            <a:ext cx="7000627" cy="617706"/>
            <a:chOff x="0" y="0"/>
            <a:chExt cx="9334170" cy="8236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34172" cy="823603"/>
            </a:xfrm>
            <a:custGeom>
              <a:avLst/>
              <a:gdLst/>
              <a:ahLst/>
              <a:cxnLst/>
              <a:rect r="r" b="b" t="t" l="l"/>
              <a:pathLst>
                <a:path h="823603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334170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Live vitals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196274" y="4139022"/>
            <a:ext cx="7137892" cy="114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HR, SpO₂ and temperature update the instant they're measured.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3608" y="5380873"/>
            <a:ext cx="1125588" cy="1125588"/>
            <a:chOff x="0" y="0"/>
            <a:chExt cx="1500784" cy="15007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00886" cy="1500886"/>
            </a:xfrm>
            <a:custGeom>
              <a:avLst/>
              <a:gdLst/>
              <a:ahLst/>
              <a:cxnLst/>
              <a:rect r="r" b="b" t="t" l="l"/>
              <a:pathLst>
                <a:path h="1500886" w="1500886">
                  <a:moveTo>
                    <a:pt x="0" y="750443"/>
                  </a:moveTo>
                  <a:cubicBezTo>
                    <a:pt x="0" y="335915"/>
                    <a:pt x="335915" y="0"/>
                    <a:pt x="750443" y="0"/>
                  </a:cubicBezTo>
                  <a:cubicBezTo>
                    <a:pt x="1164971" y="0"/>
                    <a:pt x="1500886" y="335915"/>
                    <a:pt x="1500886" y="750443"/>
                  </a:cubicBezTo>
                  <a:cubicBezTo>
                    <a:pt x="1500886" y="1164971"/>
                    <a:pt x="1164971" y="1500886"/>
                    <a:pt x="750443" y="1500886"/>
                  </a:cubicBezTo>
                  <a:cubicBezTo>
                    <a:pt x="335915" y="1500886"/>
                    <a:pt x="0" y="1164844"/>
                    <a:pt x="0" y="750443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77544" y="5634819"/>
            <a:ext cx="617706" cy="617706"/>
            <a:chOff x="0" y="0"/>
            <a:chExt cx="823608" cy="823608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823595" cy="823595"/>
            </a:xfrm>
            <a:custGeom>
              <a:avLst/>
              <a:gdLst/>
              <a:ahLst/>
              <a:cxnLst/>
              <a:rect r="r" b="b" t="t" l="l"/>
              <a:pathLst>
                <a:path h="823595" w="823595">
                  <a:moveTo>
                    <a:pt x="0" y="0"/>
                  </a:moveTo>
                  <a:lnTo>
                    <a:pt x="823595" y="0"/>
                  </a:lnTo>
                  <a:lnTo>
                    <a:pt x="823595" y="823595"/>
                  </a:lnTo>
                  <a:lnTo>
                    <a:pt x="0" y="823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196274" y="5380873"/>
            <a:ext cx="7000627" cy="617706"/>
            <a:chOff x="0" y="0"/>
            <a:chExt cx="9334170" cy="823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34172" cy="823603"/>
            </a:xfrm>
            <a:custGeom>
              <a:avLst/>
              <a:gdLst/>
              <a:ahLst/>
              <a:cxnLst/>
              <a:rect r="r" b="b" t="t" l="l"/>
              <a:pathLst>
                <a:path h="823603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334170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Trends from InfluxDB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196274" y="5950953"/>
            <a:ext cx="7137892" cy="114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charts reveal change over time, not just one reading.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23608" y="7192804"/>
            <a:ext cx="1125588" cy="1125588"/>
            <a:chOff x="0" y="0"/>
            <a:chExt cx="1500784" cy="15007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00886" cy="1500886"/>
            </a:xfrm>
            <a:custGeom>
              <a:avLst/>
              <a:gdLst/>
              <a:ahLst/>
              <a:cxnLst/>
              <a:rect r="r" b="b" t="t" l="l"/>
              <a:pathLst>
                <a:path h="1500886" w="1500886">
                  <a:moveTo>
                    <a:pt x="0" y="750443"/>
                  </a:moveTo>
                  <a:cubicBezTo>
                    <a:pt x="0" y="335915"/>
                    <a:pt x="335915" y="0"/>
                    <a:pt x="750443" y="0"/>
                  </a:cubicBezTo>
                  <a:cubicBezTo>
                    <a:pt x="1164971" y="0"/>
                    <a:pt x="1500886" y="335915"/>
                    <a:pt x="1500886" y="750443"/>
                  </a:cubicBezTo>
                  <a:cubicBezTo>
                    <a:pt x="1500886" y="1164971"/>
                    <a:pt x="1164971" y="1500886"/>
                    <a:pt x="750443" y="1500886"/>
                  </a:cubicBezTo>
                  <a:cubicBezTo>
                    <a:pt x="335915" y="1500886"/>
                    <a:pt x="0" y="1164844"/>
                    <a:pt x="0" y="750443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77544" y="7446750"/>
            <a:ext cx="617706" cy="617706"/>
            <a:chOff x="0" y="0"/>
            <a:chExt cx="823608" cy="82360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823595" cy="823595"/>
            </a:xfrm>
            <a:custGeom>
              <a:avLst/>
              <a:gdLst/>
              <a:ahLst/>
              <a:cxnLst/>
              <a:rect r="r" b="b" t="t" l="l"/>
              <a:pathLst>
                <a:path h="823595" w="823595">
                  <a:moveTo>
                    <a:pt x="0" y="0"/>
                  </a:moveTo>
                  <a:lnTo>
                    <a:pt x="823595" y="0"/>
                  </a:lnTo>
                  <a:lnTo>
                    <a:pt x="823595" y="823595"/>
                  </a:lnTo>
                  <a:lnTo>
                    <a:pt x="0" y="823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196274" y="7192804"/>
            <a:ext cx="7000627" cy="617706"/>
            <a:chOff x="0" y="0"/>
            <a:chExt cx="9334170" cy="8236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34172" cy="823603"/>
            </a:xfrm>
            <a:custGeom>
              <a:avLst/>
              <a:gdLst/>
              <a:ahLst/>
              <a:cxnLst/>
              <a:rect r="r" b="b" t="t" l="l"/>
              <a:pathLst>
                <a:path h="823603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9334170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Environment awareness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196274" y="7762885"/>
            <a:ext cx="7137892" cy="114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Footfall and noise levels shown at a glance for the whole space.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8" id="8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TESTED IT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811931"/>
            <a:ext cx="16746607" cy="1166774"/>
            <a:chOff x="0" y="0"/>
            <a:chExt cx="22328810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1555695"/>
            </a:xfrm>
            <a:custGeom>
              <a:avLst/>
              <a:gdLst/>
              <a:ahLst/>
              <a:cxnLst/>
              <a:rect r="r" b="b" t="t" l="l"/>
              <a:pathLst>
                <a:path h="155569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28810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Validated in the lab and in real use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971" y="3294412"/>
            <a:ext cx="7824235" cy="439255"/>
            <a:chOff x="0" y="0"/>
            <a:chExt cx="10432313" cy="585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32311" cy="585674"/>
            </a:xfrm>
            <a:custGeom>
              <a:avLst/>
              <a:gdLst/>
              <a:ahLst/>
              <a:cxnLst/>
              <a:rect r="r" b="b" t="t" l="l"/>
              <a:pathLst>
                <a:path h="585674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077" r="0" b="-2970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32313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3608" y="3912118"/>
            <a:ext cx="1070686" cy="1070686"/>
            <a:chOff x="0" y="0"/>
            <a:chExt cx="1427582" cy="14275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56961" y="4145471"/>
            <a:ext cx="603980" cy="603980"/>
            <a:chOff x="0" y="0"/>
            <a:chExt cx="805307" cy="805307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27647" y="3912118"/>
            <a:ext cx="6451559" cy="549069"/>
            <a:chOff x="0" y="0"/>
            <a:chExt cx="8602078" cy="732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02080" cy="732092"/>
            </a:xfrm>
            <a:custGeom>
              <a:avLst/>
              <a:gdLst/>
              <a:ahLst/>
              <a:cxnLst/>
              <a:rect r="r" b="b" t="t" l="l"/>
              <a:pathLst>
                <a:path h="732092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60207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Accuracy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127647" y="4423086"/>
            <a:ext cx="6520196" cy="12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Readings cross-checked against a commercial pulse oximeter and thermometer.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3608" y="5696588"/>
            <a:ext cx="1070686" cy="1070686"/>
            <a:chOff x="0" y="0"/>
            <a:chExt cx="1427582" cy="14275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56961" y="5929941"/>
            <a:ext cx="603980" cy="603980"/>
            <a:chOff x="0" y="0"/>
            <a:chExt cx="805307" cy="805307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127647" y="5696588"/>
            <a:ext cx="6451559" cy="549069"/>
            <a:chOff x="0" y="0"/>
            <a:chExt cx="8602078" cy="7320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02080" cy="732092"/>
            </a:xfrm>
            <a:custGeom>
              <a:avLst/>
              <a:gdLst/>
              <a:ahLst/>
              <a:cxnLst/>
              <a:rect r="r" b="b" t="t" l="l"/>
              <a:pathLst>
                <a:path h="732092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60207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Stability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127647" y="6207557"/>
            <a:ext cx="6520196" cy="12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Extended continuous-run sessions on the Pi 5 — no crashes or drift.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23608" y="7481068"/>
            <a:ext cx="1070686" cy="1070686"/>
            <a:chOff x="0" y="0"/>
            <a:chExt cx="1427582" cy="14275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56961" y="7714421"/>
            <a:ext cx="603980" cy="603980"/>
            <a:chOff x="0" y="0"/>
            <a:chExt cx="805307" cy="805307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127647" y="7481068"/>
            <a:ext cx="6451559" cy="549069"/>
            <a:chOff x="0" y="0"/>
            <a:chExt cx="8602078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02080" cy="732092"/>
            </a:xfrm>
            <a:custGeom>
              <a:avLst/>
              <a:gdLst/>
              <a:ahLst/>
              <a:cxnLst/>
              <a:rect r="r" b="b" t="t" l="l"/>
              <a:pathLst>
                <a:path h="732092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60207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Real-use trials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127647" y="7992037"/>
            <a:ext cx="6520196" cy="120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users under varied lighting, movement and finger placement.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084421" y="3477054"/>
            <a:ext cx="19069" cy="5509755"/>
            <a:chOff x="0" y="0"/>
            <a:chExt cx="25425" cy="73463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400" cy="7346315"/>
            </a:xfrm>
            <a:custGeom>
              <a:avLst/>
              <a:gdLst/>
              <a:ahLst/>
              <a:cxnLst/>
              <a:rect r="r" b="b" t="t" l="l"/>
              <a:pathLst>
                <a:path h="7346315" w="25400">
                  <a:moveTo>
                    <a:pt x="0" y="0"/>
                  </a:moveTo>
                  <a:lnTo>
                    <a:pt x="25400" y="7346315"/>
                  </a:lnTo>
                </a:path>
              </a:pathLst>
            </a:custGeom>
            <a:solidFill>
              <a:srgbClr val="028090">
                <a:alpha val="0"/>
              </a:srgbClr>
            </a:solidFill>
            <a:ln w="47625" cap="sq">
              <a:solidFill>
                <a:srgbClr val="00A89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540069" y="3294412"/>
            <a:ext cx="8236039" cy="439255"/>
            <a:chOff x="0" y="0"/>
            <a:chExt cx="10981385" cy="58567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81379" cy="585674"/>
            </a:xfrm>
            <a:custGeom>
              <a:avLst/>
              <a:gdLst/>
              <a:ahLst/>
              <a:cxnLst/>
              <a:rect r="r" b="b" t="t" l="l"/>
              <a:pathLst>
                <a:path h="585674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81385" cy="6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CHALLENGES SOLVED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08706" y="3912118"/>
            <a:ext cx="1070686" cy="1070686"/>
            <a:chOff x="0" y="0"/>
            <a:chExt cx="1427582" cy="142758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42059" y="4145471"/>
            <a:ext cx="603980" cy="603980"/>
            <a:chOff x="0" y="0"/>
            <a:chExt cx="805307" cy="805307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912745" y="3912118"/>
            <a:ext cx="6863363" cy="549069"/>
            <a:chOff x="0" y="0"/>
            <a:chExt cx="9151150" cy="7320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51149" cy="732092"/>
            </a:xfrm>
            <a:custGeom>
              <a:avLst/>
              <a:gdLst/>
              <a:ahLst/>
              <a:cxnLst/>
              <a:rect r="r" b="b" t="t" l="l"/>
              <a:pathLst>
                <a:path h="73209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151150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I²C bus debugging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912745" y="4423086"/>
            <a:ext cx="6932000" cy="134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Got the Pi 5 reading the MAX30102 and MLX90614 simultaneously without crashing.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608706" y="5696588"/>
            <a:ext cx="1070686" cy="1070686"/>
            <a:chOff x="0" y="0"/>
            <a:chExt cx="1427582" cy="142758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842059" y="5929941"/>
            <a:ext cx="603980" cy="603980"/>
            <a:chOff x="0" y="0"/>
            <a:chExt cx="805307" cy="805307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912745" y="5696588"/>
            <a:ext cx="6863363" cy="549069"/>
            <a:chOff x="0" y="0"/>
            <a:chExt cx="9151150" cy="7320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51149" cy="732092"/>
            </a:xfrm>
            <a:custGeom>
              <a:avLst/>
              <a:gdLst/>
              <a:ahLst/>
              <a:cxnLst/>
              <a:rect r="r" b="b" t="t" l="l"/>
              <a:pathLst>
                <a:path h="73209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151150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Ingestion engine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912745" y="6207557"/>
            <a:ext cx="6932000" cy="134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Hardened the Python + Flask server to run seamlessly — no [Errno 121] or memory errors.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608706" y="7481068"/>
            <a:ext cx="1070686" cy="1070686"/>
            <a:chOff x="0" y="0"/>
            <a:chExt cx="1427582" cy="142758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27480" cy="1427480"/>
            </a:xfrm>
            <a:custGeom>
              <a:avLst/>
              <a:gdLst/>
              <a:ahLst/>
              <a:cxnLst/>
              <a:rect r="r" b="b" t="t" l="l"/>
              <a:pathLst>
                <a:path h="1427480" w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42059" y="7714421"/>
            <a:ext cx="603980" cy="603980"/>
            <a:chOff x="0" y="0"/>
            <a:chExt cx="805307" cy="805307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805307" cy="805307"/>
            </a:xfrm>
            <a:custGeom>
              <a:avLst/>
              <a:gdLst/>
              <a:ahLst/>
              <a:cxnLst/>
              <a:rect r="r" b="b" t="t" l="l"/>
              <a:pathLst>
                <a:path h="805307" w="805307">
                  <a:moveTo>
                    <a:pt x="0" y="0"/>
                  </a:moveTo>
                  <a:lnTo>
                    <a:pt x="805307" y="0"/>
                  </a:lnTo>
                  <a:lnTo>
                    <a:pt x="805307" y="805307"/>
                  </a:lnTo>
                  <a:lnTo>
                    <a:pt x="0" y="805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912745" y="7481068"/>
            <a:ext cx="6863363" cy="549069"/>
            <a:chOff x="0" y="0"/>
            <a:chExt cx="9151150" cy="7320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51149" cy="732092"/>
            </a:xfrm>
            <a:custGeom>
              <a:avLst/>
              <a:gdLst/>
              <a:ahLst/>
              <a:cxnLst/>
              <a:rect r="r" b="b" t="t" l="l"/>
              <a:pathLst>
                <a:path h="73209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151150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Noise calibration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912745" y="7992037"/>
            <a:ext cx="6932000" cy="134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Tuned the sound sensor's potentiometer to reliably tell “LOUD” from “QUIET” in a real room.</a:t>
            </a:r>
          </a:p>
        </p:txBody>
      </p:sp>
      <p:sp>
        <p:nvSpPr>
          <p:cNvPr name="AutoShape 71" id="71"/>
          <p:cNvSpPr/>
          <p:nvPr/>
        </p:nvSpPr>
        <p:spPr>
          <a:xfrm>
            <a:off x="8895493" y="3477054"/>
            <a:ext cx="0" cy="5339696"/>
          </a:xfrm>
          <a:prstGeom prst="line">
            <a:avLst/>
          </a:prstGeom>
          <a:ln cap="flat" w="38100">
            <a:solidFill>
              <a:srgbClr val="D5E2E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3" id="3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8" id="8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971" y="1372676"/>
            <a:ext cx="15099392" cy="480431"/>
            <a:chOff x="0" y="0"/>
            <a:chExt cx="20132523" cy="640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32529" cy="640580"/>
            </a:xfrm>
            <a:custGeom>
              <a:avLst/>
              <a:gdLst/>
              <a:ahLst/>
              <a:cxnLst/>
              <a:rect r="r" b="b" t="t" l="l"/>
              <a:pathLst>
                <a:path h="640580" w="20132529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7" r="0" b="-5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132523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b="true" sz="1951" spc="45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PROTOTYPE TO DEPLOYMENT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811931"/>
            <a:ext cx="16746607" cy="1166774"/>
            <a:chOff x="0" y="0"/>
            <a:chExt cx="22328810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1555695"/>
            </a:xfrm>
            <a:custGeom>
              <a:avLst/>
              <a:gdLst/>
              <a:ahLst/>
              <a:cxnLst/>
              <a:rect r="r" b="b" t="t" l="l"/>
              <a:pathLst>
                <a:path h="155569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28810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4"/>
                </a:lnSpc>
              </a:pPr>
              <a:r>
                <a:rPr lang="en-US" sz="4653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How WeCare scales into the real world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5436" y="3422152"/>
            <a:ext cx="5441118" cy="5303853"/>
            <a:chOff x="0" y="0"/>
            <a:chExt cx="7254824" cy="70718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54875" cy="7071741"/>
            </a:xfrm>
            <a:custGeom>
              <a:avLst/>
              <a:gdLst/>
              <a:ahLst/>
              <a:cxnLst/>
              <a:rect r="r" b="b" t="t" l="l"/>
              <a:pathLst>
                <a:path h="7071741" w="7254875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71233" y="0"/>
                  </a:lnTo>
                  <a:cubicBezTo>
                    <a:pt x="7172706" y="0"/>
                    <a:pt x="7254875" y="82169"/>
                    <a:pt x="7254875" y="183642"/>
                  </a:cubicBezTo>
                  <a:lnTo>
                    <a:pt x="7254875" y="6888099"/>
                  </a:lnTo>
                  <a:cubicBezTo>
                    <a:pt x="7254875" y="6989572"/>
                    <a:pt x="7172706" y="7071741"/>
                    <a:pt x="7071233" y="7071741"/>
                  </a:cubicBezTo>
                  <a:lnTo>
                    <a:pt x="183642" y="7071741"/>
                  </a:lnTo>
                  <a:cubicBezTo>
                    <a:pt x="82169" y="7071868"/>
                    <a:pt x="0" y="6989572"/>
                    <a:pt x="0" y="6888099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54971" y="3431677"/>
            <a:ext cx="5422059" cy="164725"/>
            <a:chOff x="0" y="0"/>
            <a:chExt cx="7229412" cy="2196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29348" cy="219583"/>
            </a:xfrm>
            <a:custGeom>
              <a:avLst/>
              <a:gdLst/>
              <a:ahLst/>
              <a:cxnLst/>
              <a:rect r="r" b="b" t="t" l="l"/>
              <a:pathLst>
                <a:path h="219583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6774" y="3733667"/>
            <a:ext cx="4598451" cy="480431"/>
            <a:chOff x="0" y="0"/>
            <a:chExt cx="6131268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31270" cy="640580"/>
            </a:xfrm>
            <a:custGeom>
              <a:avLst/>
              <a:gdLst/>
              <a:ahLst/>
              <a:cxnLst/>
              <a:rect r="r" b="b" t="t" l="l"/>
              <a:pathLst>
                <a:path h="640580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131268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6774" y="4255284"/>
            <a:ext cx="1235402" cy="1235402"/>
            <a:chOff x="0" y="0"/>
            <a:chExt cx="1647203" cy="16472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41304" y="4529823"/>
            <a:ext cx="686333" cy="686333"/>
            <a:chOff x="0" y="0"/>
            <a:chExt cx="915111" cy="915111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66774" y="5696588"/>
            <a:ext cx="4598451" cy="686333"/>
            <a:chOff x="0" y="0"/>
            <a:chExt cx="6131268" cy="915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31270" cy="915115"/>
            </a:xfrm>
            <a:custGeom>
              <a:avLst/>
              <a:gdLst/>
              <a:ahLst/>
              <a:cxnLst/>
              <a:rect r="r" b="b" t="t" l="l"/>
              <a:pathLst>
                <a:path h="915115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131268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Harden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66774" y="6403934"/>
            <a:ext cx="4598451" cy="210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202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Sealed, durable, tamper-resistant enclosure built for public spaces.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122118" y="5765225"/>
            <a:ext cx="411804" cy="411804"/>
            <a:chOff x="0" y="0"/>
            <a:chExt cx="549072" cy="549072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69485" y="3422152"/>
            <a:ext cx="5441118" cy="5303853"/>
            <a:chOff x="0" y="0"/>
            <a:chExt cx="7254824" cy="70718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54875" cy="7071741"/>
            </a:xfrm>
            <a:custGeom>
              <a:avLst/>
              <a:gdLst/>
              <a:ahLst/>
              <a:cxnLst/>
              <a:rect r="r" b="b" t="t" l="l"/>
              <a:pathLst>
                <a:path h="7071741" w="7254875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71233" y="0"/>
                  </a:lnTo>
                  <a:cubicBezTo>
                    <a:pt x="7172706" y="0"/>
                    <a:pt x="7254875" y="82169"/>
                    <a:pt x="7254875" y="183642"/>
                  </a:cubicBezTo>
                  <a:lnTo>
                    <a:pt x="7254875" y="6888099"/>
                  </a:lnTo>
                  <a:cubicBezTo>
                    <a:pt x="7254875" y="6989572"/>
                    <a:pt x="7172706" y="7071741"/>
                    <a:pt x="7071233" y="7071741"/>
                  </a:cubicBezTo>
                  <a:lnTo>
                    <a:pt x="183642" y="7071741"/>
                  </a:lnTo>
                  <a:cubicBezTo>
                    <a:pt x="82169" y="7071868"/>
                    <a:pt x="0" y="6989572"/>
                    <a:pt x="0" y="6888099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479010" y="3431677"/>
            <a:ext cx="5422059" cy="164725"/>
            <a:chOff x="0" y="0"/>
            <a:chExt cx="7229412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29348" cy="219583"/>
            </a:xfrm>
            <a:custGeom>
              <a:avLst/>
              <a:gdLst/>
              <a:ahLst/>
              <a:cxnLst/>
              <a:rect r="r" b="b" t="t" l="l"/>
              <a:pathLst>
                <a:path h="219583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890814" y="3733667"/>
            <a:ext cx="4598451" cy="480431"/>
            <a:chOff x="0" y="0"/>
            <a:chExt cx="6131268" cy="6405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31270" cy="640580"/>
            </a:xfrm>
            <a:custGeom>
              <a:avLst/>
              <a:gdLst/>
              <a:ahLst/>
              <a:cxnLst/>
              <a:rect r="r" b="b" t="t" l="l"/>
              <a:pathLst>
                <a:path h="640580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131268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90814" y="4255284"/>
            <a:ext cx="1235402" cy="1235402"/>
            <a:chOff x="0" y="0"/>
            <a:chExt cx="1647203" cy="16472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165353" y="4529823"/>
            <a:ext cx="686333" cy="686333"/>
            <a:chOff x="0" y="0"/>
            <a:chExt cx="915111" cy="915111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5" b="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890814" y="5696588"/>
            <a:ext cx="4598451" cy="686333"/>
            <a:chOff x="0" y="0"/>
            <a:chExt cx="6131268" cy="9151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31270" cy="915115"/>
            </a:xfrm>
            <a:custGeom>
              <a:avLst/>
              <a:gdLst/>
              <a:ahLst/>
              <a:cxnLst/>
              <a:rect r="r" b="b" t="t" l="l"/>
              <a:pathLst>
                <a:path h="915115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131268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Scale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890814" y="6403934"/>
            <a:ext cx="4598451" cy="210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202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Cloud sync + a fleet dashboard to monitor many kiosks from one place.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846166" y="5765225"/>
            <a:ext cx="411804" cy="411804"/>
            <a:chOff x="0" y="0"/>
            <a:chExt cx="549072" cy="549072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549021" cy="549021"/>
            </a:xfrm>
            <a:custGeom>
              <a:avLst/>
              <a:gdLst/>
              <a:ahLst/>
              <a:cxnLst/>
              <a:rect r="r" b="b" t="t" l="l"/>
              <a:pathLst>
                <a:path h="549021" w="549021">
                  <a:moveTo>
                    <a:pt x="0" y="0"/>
                  </a:moveTo>
                  <a:lnTo>
                    <a:pt x="549021" y="0"/>
                  </a:lnTo>
                  <a:lnTo>
                    <a:pt x="549021" y="549021"/>
                  </a:lnTo>
                  <a:lnTo>
                    <a:pt x="0" y="54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193524" y="3422152"/>
            <a:ext cx="5441118" cy="5303853"/>
            <a:chOff x="0" y="0"/>
            <a:chExt cx="7254824" cy="70718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54875" cy="7071741"/>
            </a:xfrm>
            <a:custGeom>
              <a:avLst/>
              <a:gdLst/>
              <a:ahLst/>
              <a:cxnLst/>
              <a:rect r="r" b="b" t="t" l="l"/>
              <a:pathLst>
                <a:path h="7071741" w="7254875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071233" y="0"/>
                  </a:lnTo>
                  <a:cubicBezTo>
                    <a:pt x="7172706" y="0"/>
                    <a:pt x="7254875" y="82169"/>
                    <a:pt x="7254875" y="183642"/>
                  </a:cubicBezTo>
                  <a:lnTo>
                    <a:pt x="7254875" y="6888099"/>
                  </a:lnTo>
                  <a:cubicBezTo>
                    <a:pt x="7254875" y="6989572"/>
                    <a:pt x="7172706" y="7071741"/>
                    <a:pt x="7071233" y="7071741"/>
                  </a:cubicBezTo>
                  <a:lnTo>
                    <a:pt x="183642" y="7071741"/>
                  </a:lnTo>
                  <a:cubicBezTo>
                    <a:pt x="82169" y="7071868"/>
                    <a:pt x="0" y="6989572"/>
                    <a:pt x="0" y="6888099"/>
                  </a:cubicBezTo>
                  <a:close/>
                </a:path>
              </a:pathLst>
            </a:custGeom>
            <a:solidFill>
              <a:srgbClr val="F4F8F8"/>
            </a:solidFill>
            <a:ln w="19065" cap="sq">
              <a:solidFill>
                <a:srgbClr val="D5E2E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203059" y="3431677"/>
            <a:ext cx="5422059" cy="164725"/>
            <a:chOff x="0" y="0"/>
            <a:chExt cx="7229412" cy="2196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29348" cy="219583"/>
            </a:xfrm>
            <a:custGeom>
              <a:avLst/>
              <a:gdLst/>
              <a:ahLst/>
              <a:cxnLst/>
              <a:rect r="r" b="b" t="t" l="l"/>
              <a:pathLst>
                <a:path h="219583" w="7229348">
                  <a:moveTo>
                    <a:pt x="0" y="0"/>
                  </a:moveTo>
                  <a:lnTo>
                    <a:pt x="7229348" y="0"/>
                  </a:lnTo>
                  <a:lnTo>
                    <a:pt x="722934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614862" y="3733667"/>
            <a:ext cx="4598451" cy="480431"/>
            <a:chOff x="0" y="0"/>
            <a:chExt cx="6131268" cy="6405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131270" cy="640580"/>
            </a:xfrm>
            <a:custGeom>
              <a:avLst/>
              <a:gdLst/>
              <a:ahLst/>
              <a:cxnLst/>
              <a:rect r="r" b="b" t="t" l="l"/>
              <a:pathLst>
                <a:path h="640580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131268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b="true" sz="1801" spc="30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14862" y="4255284"/>
            <a:ext cx="1235402" cy="1235402"/>
            <a:chOff x="0" y="0"/>
            <a:chExt cx="1647203" cy="1647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7190" cy="1647190"/>
            </a:xfrm>
            <a:custGeom>
              <a:avLst/>
              <a:gdLst/>
              <a:ahLst/>
              <a:cxnLst/>
              <a:rect r="r" b="b" t="t" l="l"/>
              <a:pathLst>
                <a:path h="1647190" w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889392" y="4529823"/>
            <a:ext cx="686333" cy="686333"/>
            <a:chOff x="0" y="0"/>
            <a:chExt cx="915111" cy="915111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915162"/>
                  </a:lnTo>
                  <a:lnTo>
                    <a:pt x="0" y="915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5" b="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614862" y="5696588"/>
            <a:ext cx="4598451" cy="686333"/>
            <a:chOff x="0" y="0"/>
            <a:chExt cx="6131268" cy="9151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31270" cy="915115"/>
            </a:xfrm>
            <a:custGeom>
              <a:avLst/>
              <a:gdLst/>
              <a:ahLst/>
              <a:cxnLst/>
              <a:rect r="r" b="b" t="t" l="l"/>
              <a:pathLst>
                <a:path h="915115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131268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2"/>
                </a:lnSpc>
              </a:pPr>
              <a:r>
                <a:rPr lang="en-US" sz="3152" b="true">
                  <a:solidFill>
                    <a:srgbClr val="14323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Comply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614862" y="6403934"/>
            <a:ext cx="4598451" cy="210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2026">
                <a:solidFill>
                  <a:srgbClr val="5A7079"/>
                </a:solidFill>
                <a:latin typeface="Calibri (MS)"/>
                <a:ea typeface="Calibri (MS)"/>
                <a:cs typeface="Calibri (MS)"/>
                <a:sym typeface="Calibri (MS)"/>
              </a:rPr>
              <a:t>Encrypted health data, clear consent, and health-data regulation compliance.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754971" y="8949823"/>
            <a:ext cx="16787784" cy="905961"/>
            <a:chOff x="0" y="0"/>
            <a:chExt cx="22383712" cy="12079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383750" cy="1207897"/>
            </a:xfrm>
            <a:custGeom>
              <a:avLst/>
              <a:gdLst/>
              <a:ahLst/>
              <a:cxnLst/>
              <a:rect r="r" b="b" t="t" l="l"/>
              <a:pathLst>
                <a:path h="1207897" w="2238375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2200743" y="0"/>
                  </a:lnTo>
                  <a:cubicBezTo>
                    <a:pt x="22301834" y="0"/>
                    <a:pt x="22383750" y="81915"/>
                    <a:pt x="22383750" y="183007"/>
                  </a:cubicBezTo>
                  <a:lnTo>
                    <a:pt x="22383750" y="1024890"/>
                  </a:lnTo>
                  <a:cubicBezTo>
                    <a:pt x="22383750" y="1125982"/>
                    <a:pt x="22301834" y="1207897"/>
                    <a:pt x="22200743" y="1207897"/>
                  </a:cubicBezTo>
                  <a:lnTo>
                    <a:pt x="183007" y="1207897"/>
                  </a:lnTo>
                  <a:cubicBezTo>
                    <a:pt x="81915" y="1207897"/>
                    <a:pt x="0" y="1125982"/>
                    <a:pt x="0" y="102489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66774" y="8949823"/>
            <a:ext cx="16060264" cy="905961"/>
            <a:chOff x="0" y="0"/>
            <a:chExt cx="21413686" cy="12079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413690" cy="1207952"/>
            </a:xfrm>
            <a:custGeom>
              <a:avLst/>
              <a:gdLst/>
              <a:ahLst/>
              <a:cxnLst/>
              <a:rect r="r" b="b" t="t" l="l"/>
              <a:pathLst>
                <a:path h="1207952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207952"/>
                  </a:lnTo>
                  <a:lnTo>
                    <a:pt x="0" y="120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1413686" cy="1246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EAFB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Cost-effective at scale:  </a:t>
              </a:r>
              <a:r>
                <a:rPr lang="en-US" sz="1876">
                  <a:solidFill>
                    <a:srgbClr val="EAFB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full kiosk — Raspberry Pi 5 + I²C sensors — assembles for under $150, versus the original $15,000 app budget. Deploy dozens for a fraction of the cost.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31677" y="4804353"/>
            <a:ext cx="9608706" cy="9608706"/>
            <a:chOff x="0" y="0"/>
            <a:chExt cx="12811608" cy="1281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028090">
                <a:alpha val="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13059" y="-4118019"/>
            <a:ext cx="8922372" cy="8922372"/>
            <a:chOff x="0" y="0"/>
            <a:chExt cx="11896496" cy="11896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96471" cy="11896471"/>
            </a:xfrm>
            <a:custGeom>
              <a:avLst/>
              <a:gdLst/>
              <a:ahLst/>
              <a:cxnLst/>
              <a:rect r="r" b="b" t="t" l="l"/>
              <a:pathLst>
                <a:path h="11896471" w="11896471">
                  <a:moveTo>
                    <a:pt x="0" y="5948299"/>
                  </a:moveTo>
                  <a:cubicBezTo>
                    <a:pt x="0" y="2663063"/>
                    <a:pt x="2663063" y="0"/>
                    <a:pt x="5948299" y="0"/>
                  </a:cubicBezTo>
                  <a:cubicBezTo>
                    <a:pt x="9233535" y="0"/>
                    <a:pt x="11896471" y="2663063"/>
                    <a:pt x="11896471" y="5948299"/>
                  </a:cubicBezTo>
                  <a:cubicBezTo>
                    <a:pt x="11896471" y="9233535"/>
                    <a:pt x="9233408" y="11896471"/>
                    <a:pt x="5948299" y="11896471"/>
                  </a:cubicBezTo>
                  <a:cubicBezTo>
                    <a:pt x="2663190" y="11896471"/>
                    <a:pt x="0" y="9233408"/>
                    <a:pt x="0" y="5948299"/>
                  </a:cubicBezTo>
                  <a:close/>
                </a:path>
              </a:pathLst>
            </a:custGeom>
            <a:solidFill>
              <a:srgbClr val="00A896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069" y="411804"/>
            <a:ext cx="917019" cy="713794"/>
            <a:chOff x="0" y="0"/>
            <a:chExt cx="1222692" cy="951725"/>
          </a:xfrm>
        </p:grpSpPr>
        <p:sp>
          <p:nvSpPr>
            <p:cNvPr name="Freeform 7" id="7" descr="assets/wecare_logo.png"/>
            <p:cNvSpPr/>
            <p:nvPr/>
          </p:nvSpPr>
          <p:spPr>
            <a:xfrm flipH="false" flipV="false" rot="0">
              <a:off x="0" y="0"/>
              <a:ext cx="1222756" cy="951738"/>
            </a:xfrm>
            <a:custGeom>
              <a:avLst/>
              <a:gdLst/>
              <a:ahLst/>
              <a:cxnLst/>
              <a:rect r="r" b="b" t="t" l="l"/>
              <a:pathLst>
                <a:path h="951738" w="1222756">
                  <a:moveTo>
                    <a:pt x="0" y="0"/>
                  </a:moveTo>
                  <a:lnTo>
                    <a:pt x="1222756" y="0"/>
                  </a:lnTo>
                  <a:lnTo>
                    <a:pt x="1222756" y="951738"/>
                  </a:lnTo>
                  <a:lnTo>
                    <a:pt x="0" y="95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3362" y="411804"/>
            <a:ext cx="2745343" cy="770978"/>
            <a:chOff x="0" y="0"/>
            <a:chExt cx="3660458" cy="1027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0460" cy="1027964"/>
            </a:xfrm>
            <a:custGeom>
              <a:avLst/>
              <a:gdLst/>
              <a:ahLst/>
              <a:cxnLst/>
              <a:rect r="r" b="b" t="t" l="l"/>
              <a:pathLst>
                <a:path h="1027964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027964"/>
                  </a:lnTo>
                  <a:lnTo>
                    <a:pt x="0" y="1027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92" r="0" b="-156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660458" cy="1047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Community Impact Project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11340" y="370618"/>
            <a:ext cx="3074784" cy="901951"/>
            <a:chOff x="0" y="0"/>
            <a:chExt cx="4099712" cy="1202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99814" cy="1202690"/>
            </a:xfrm>
            <a:custGeom>
              <a:avLst/>
              <a:gdLst/>
              <a:ahLst/>
              <a:cxnLst/>
              <a:rect r="r" b="b" t="t" l="l"/>
              <a:pathLst>
                <a:path h="1202690" w="4099814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3989959" y="0"/>
                  </a:lnTo>
                  <a:cubicBezTo>
                    <a:pt x="4050665" y="0"/>
                    <a:pt x="4099814" y="49149"/>
                    <a:pt x="4099814" y="109855"/>
                  </a:cubicBezTo>
                  <a:lnTo>
                    <a:pt x="4099814" y="1092835"/>
                  </a:lnTo>
                  <a:cubicBezTo>
                    <a:pt x="4099814" y="1153541"/>
                    <a:pt x="4050665" y="1202690"/>
                    <a:pt x="3989959" y="1202690"/>
                  </a:cubicBezTo>
                  <a:lnTo>
                    <a:pt x="109855" y="1202690"/>
                  </a:lnTo>
                  <a:cubicBezTo>
                    <a:pt x="49149" y="1202563"/>
                    <a:pt x="0" y="1153414"/>
                    <a:pt x="0" y="109283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144693" y="549069"/>
            <a:ext cx="2608078" cy="545049"/>
            <a:chOff x="0" y="0"/>
            <a:chExt cx="3477438" cy="726732"/>
          </a:xfrm>
        </p:grpSpPr>
        <p:sp>
          <p:nvSpPr>
            <p:cNvPr name="Freeform 14" id="14" descr="assets/cu_logo.png"/>
            <p:cNvSpPr/>
            <p:nvPr/>
          </p:nvSpPr>
          <p:spPr>
            <a:xfrm flipH="false" flipV="false" rot="0">
              <a:off x="0" y="0"/>
              <a:ext cx="3477387" cy="726694"/>
            </a:xfrm>
            <a:custGeom>
              <a:avLst/>
              <a:gdLst/>
              <a:ahLst/>
              <a:cxnLst/>
              <a:rect r="r" b="b" t="t" l="l"/>
              <a:pathLst>
                <a:path h="726694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726694"/>
                  </a:lnTo>
                  <a:lnTo>
                    <a:pt x="0" y="72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395954" y="2333539"/>
            <a:ext cx="1509941" cy="1509941"/>
            <a:chOff x="0" y="0"/>
            <a:chExt cx="2013255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320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013204">
                  <a:moveTo>
                    <a:pt x="0" y="1006602"/>
                  </a:moveTo>
                  <a:cubicBezTo>
                    <a:pt x="0" y="450723"/>
                    <a:pt x="450723" y="0"/>
                    <a:pt x="1006602" y="0"/>
                  </a:cubicBezTo>
                  <a:cubicBezTo>
                    <a:pt x="1562481" y="0"/>
                    <a:pt x="2013204" y="450723"/>
                    <a:pt x="2013204" y="1006602"/>
                  </a:cubicBezTo>
                  <a:cubicBezTo>
                    <a:pt x="2013204" y="1562481"/>
                    <a:pt x="1562481" y="2013204"/>
                    <a:pt x="1006602" y="2013204"/>
                  </a:cubicBezTo>
                  <a:cubicBezTo>
                    <a:pt x="450723" y="2013204"/>
                    <a:pt x="0" y="1562608"/>
                    <a:pt x="0" y="1006602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39121" y="2676716"/>
            <a:ext cx="823608" cy="823608"/>
            <a:chOff x="0" y="0"/>
            <a:chExt cx="1098144" cy="1098144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98169" cy="1098169"/>
            </a:xfrm>
            <a:custGeom>
              <a:avLst/>
              <a:gdLst/>
              <a:ahLst/>
              <a:cxnLst/>
              <a:rect r="r" b="b" t="t" l="l"/>
              <a:pathLst>
                <a:path h="1098169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1098169"/>
                  </a:lnTo>
                  <a:lnTo>
                    <a:pt x="0" y="1098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4118019"/>
            <a:ext cx="15511196" cy="1098137"/>
            <a:chOff x="0" y="0"/>
            <a:chExt cx="20681594" cy="14641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681598" cy="1464184"/>
            </a:xfrm>
            <a:custGeom>
              <a:avLst/>
              <a:gdLst/>
              <a:ahLst/>
              <a:cxnLst/>
              <a:rect r="r" b="b" t="t" l="l"/>
              <a:pathLst>
                <a:path h="1464184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681594" cy="1473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5"/>
                </a:lnSpc>
              </a:pPr>
              <a:r>
                <a:rPr lang="en-US" sz="6004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Health made accessible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2676" y="5353421"/>
            <a:ext cx="15511196" cy="686333"/>
            <a:chOff x="0" y="0"/>
            <a:chExt cx="20681594" cy="915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681598" cy="915115"/>
            </a:xfrm>
            <a:custGeom>
              <a:avLst/>
              <a:gdLst/>
              <a:ahLst/>
              <a:cxnLst/>
              <a:rect r="r" b="b" t="t" l="l"/>
              <a:pathLst>
                <a:path h="91511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0681594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i="true">
                  <a:solidFill>
                    <a:srgbClr val="02C39A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We didn't just design an app — we built a working machine.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2676" y="6177029"/>
            <a:ext cx="15511196" cy="617706"/>
            <a:chOff x="0" y="0"/>
            <a:chExt cx="20681594" cy="8236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681598" cy="823603"/>
            </a:xfrm>
            <a:custGeom>
              <a:avLst/>
              <a:gdLst/>
              <a:ahLst/>
              <a:cxnLst/>
              <a:rect r="r" b="b" t="t" l="l"/>
              <a:pathLst>
                <a:path h="823603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290" r="0" b="-43929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681594" cy="871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CFE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Fast, free, equal access to health monitoring — wherever people are.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2676" y="7481068"/>
            <a:ext cx="15511196" cy="686333"/>
            <a:chOff x="0" y="0"/>
            <a:chExt cx="20681594" cy="915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681598" cy="915115"/>
            </a:xfrm>
            <a:custGeom>
              <a:avLst/>
              <a:gdLst/>
              <a:ahLst/>
              <a:cxnLst/>
              <a:rect r="r" b="b" t="t" l="l"/>
              <a:pathLst>
                <a:path h="91511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0681594" cy="934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  ·  Questions?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2676" y="8373304"/>
            <a:ext cx="15511196" cy="549069"/>
            <a:chOff x="0" y="0"/>
            <a:chExt cx="20681594" cy="7320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681598" cy="732092"/>
            </a:xfrm>
            <a:custGeom>
              <a:avLst/>
              <a:gdLst/>
              <a:ahLst/>
              <a:cxnLst/>
              <a:rect r="r" b="b" t="t" l="l"/>
              <a:pathLst>
                <a:path h="732092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452" r="0" b="-5004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0681594" cy="779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9FC8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Giorgi Pataridze   ·   Avtandili Javrishvili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DAHLdJo6u-k</dc:identifier>
  <dcterms:modified xsi:type="dcterms:W3CDTF">2011-08-01T06:04:30Z</dcterms:modified>
  <cp:revision>1</cp:revision>
  <dc:title>WeCare</dc:title>
</cp:coreProperties>
</file>